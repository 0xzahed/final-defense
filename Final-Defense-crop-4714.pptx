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3">
  <p:sldMasterIdLst>
    <p:sldMasterId id="2147483659" r:id="rId1"/>
  </p:sldMasterIdLst>
  <p:notesMasterIdLst>
    <p:notesMasterId r:id="rId19"/>
  </p:notesMasterIdLst>
  <p:sldIdLst>
    <p:sldId id="256" r:id="rId2"/>
    <p:sldId id="264" r:id="rId3"/>
    <p:sldId id="280" r:id="rId4"/>
    <p:sldId id="293" r:id="rId5"/>
    <p:sldId id="296" r:id="rId6"/>
    <p:sldId id="294" r:id="rId7"/>
    <p:sldId id="297" r:id="rId8"/>
    <p:sldId id="298" r:id="rId9"/>
    <p:sldId id="311" r:id="rId10"/>
    <p:sldId id="310" r:id="rId11"/>
    <p:sldId id="306" r:id="rId12"/>
    <p:sldId id="300" r:id="rId13"/>
    <p:sldId id="305" r:id="rId14"/>
    <p:sldId id="307" r:id="rId15"/>
    <p:sldId id="291" r:id="rId16"/>
    <p:sldId id="299" r:id="rId17"/>
    <p:sldId id="295" r:id="rId1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21596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>
      <p:cViewPr varScale="1">
        <p:scale>
          <a:sx n="78" d="100"/>
          <a:sy n="78" d="100"/>
        </p:scale>
        <p:origin x="869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F2D6876-F133-46D3-95E2-A34AD9BDC8CB}" type="datetimeFigureOut">
              <a:rPr lang="en-US"/>
              <a:pPr>
                <a:defRPr/>
              </a:pPr>
              <a:t>1/5/2026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DA40400-4F5E-4E00-9BB5-F457594CE7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642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76400"/>
            <a:ext cx="10972800" cy="396240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D9AE-DAF0-4070-950A-9E3660EBE497}" type="datetime1">
              <a:rPr lang="en-US" smtClean="0"/>
              <a:pPr>
                <a:defRPr/>
              </a:pPr>
              <a:t>1/5/2026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1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356351"/>
            <a:ext cx="1538817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 userDrawn="1"/>
        </p:nvSpPr>
        <p:spPr>
          <a:xfrm>
            <a:off x="2336801" y="6356351"/>
            <a:ext cx="9842500" cy="4652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B.Sc. Pre-Defense</a:t>
            </a:r>
            <a:endParaRPr lang="en-US" b="1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263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3759200" y="0"/>
            <a:ext cx="8432800" cy="6858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B.Sc. Pre-Defense</a:t>
            </a:r>
            <a:endParaRPr lang="en-US" b="1" dirty="0"/>
          </a:p>
        </p:txBody>
      </p:sp>
      <p:pic>
        <p:nvPicPr>
          <p:cNvPr id="6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46051" y="76200"/>
            <a:ext cx="2444749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 userDrawn="1"/>
        </p:nvSpPr>
        <p:spPr>
          <a:xfrm>
            <a:off x="3555999" y="3271960"/>
            <a:ext cx="5080000" cy="533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/>
              <a:t>Presented by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43000"/>
            <a:ext cx="10363200" cy="1752600"/>
          </a:xfrm>
        </p:spPr>
        <p:txBody>
          <a:bodyPr/>
          <a:lstStyle>
            <a:lvl1pPr>
              <a:defRPr b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02707" y="3959471"/>
            <a:ext cx="5986585" cy="2209800"/>
          </a:xfrm>
        </p:spPr>
        <p:txBody>
          <a:bodyPr>
            <a:normAutofit/>
          </a:bodyPr>
          <a:lstStyle>
            <a:lvl1pPr marL="0" indent="0" algn="ctr">
              <a:buNone/>
              <a:defRPr sz="27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C254C3-6D07-4044-A98A-C7B9FCC216AA}" type="datetime1">
              <a:rPr lang="en-US"/>
              <a:pPr>
                <a:defRPr/>
              </a:pPr>
              <a:t>1/5/2026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2AF6E4-9F0F-4D32-8D8E-755B2E69BA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04801" y="5943600"/>
            <a:ext cx="153881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 userDrawn="1"/>
        </p:nvSpPr>
        <p:spPr>
          <a:xfrm>
            <a:off x="2336801" y="5943600"/>
            <a:ext cx="98425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Final Year Defense</a:t>
            </a:r>
            <a:endParaRPr lang="en-US" b="1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76400"/>
            <a:ext cx="10972800" cy="396240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D9AE-DAF0-4070-950A-9E3660EBE497}" type="datetime1">
              <a:rPr lang="en-US"/>
              <a:pPr>
                <a:defRPr/>
              </a:pPr>
              <a:t>1/5/2026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58" r:id="rId1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914400" y="1295400"/>
            <a:ext cx="10363200" cy="1752600"/>
          </a:xfrm>
        </p:spPr>
        <p:txBody>
          <a:bodyPr rtlCol="0">
            <a:norm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A Deep Learning Approach for Multi class Crop Leaf Classifications</a:t>
            </a:r>
            <a:endParaRPr lang="en-US" dirty="0">
              <a:solidFill>
                <a:srgbClr val="7030A0"/>
              </a:solidFill>
              <a:effectLst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FC8551-41BC-7160-AB58-5A1854853554}"/>
              </a:ext>
            </a:extLst>
          </p:cNvPr>
          <p:cNvSpPr txBox="1"/>
          <p:nvPr/>
        </p:nvSpPr>
        <p:spPr>
          <a:xfrm>
            <a:off x="8906256" y="185335"/>
            <a:ext cx="3276600" cy="369332"/>
          </a:xfrm>
          <a:prstGeom prst="rect">
            <a:avLst/>
          </a:prstGeom>
          <a:solidFill>
            <a:srgbClr val="215968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3" name="Subtitle 4">
            <a:extLst>
              <a:ext uri="{FF2B5EF4-FFF2-40B4-BE49-F238E27FC236}">
                <a16:creationId xmlns:a16="http://schemas.microsoft.com/office/drawing/2014/main" id="{F649282E-42F2-E951-FCC4-728F05A8F6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95700" y="4038600"/>
            <a:ext cx="4800600" cy="2438400"/>
          </a:xfrm>
        </p:spPr>
        <p:txBody>
          <a:bodyPr rtlCol="0">
            <a:normAutofit/>
          </a:bodyPr>
          <a:lstStyle/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</a:t>
            </a:r>
            <a:r>
              <a:rPr lang="en-US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Shakibur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Rahman</a:t>
            </a:r>
          </a:p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 :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221-15-4714</a:t>
            </a:r>
          </a:p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: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Daffodil International University</a:t>
            </a:r>
          </a:p>
          <a:p>
            <a:pPr>
              <a:defRPr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Outline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Study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 Analysis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Novelty of the Work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Interface 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296400" y="5989637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74EFF0-3D03-C0F9-F0D4-A9D3482709F0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47200" y="6019800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1160C4-4E81-64AE-82AE-E159832FFEF8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A3836E-8F2C-972B-F1A3-5B538D693CF3}"/>
              </a:ext>
            </a:extLst>
          </p:cNvPr>
          <p:cNvSpPr txBox="1"/>
          <p:nvPr/>
        </p:nvSpPr>
        <p:spPr>
          <a:xfrm>
            <a:off x="5204011" y="252804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81550E2-C1CC-F769-9D07-5F2E1754AF34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066800" y="1066800"/>
            <a:ext cx="10058400" cy="5027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Crop leaf diseases are a major threat to agricultural productivity, causing significant yield losses     for farmers in Bangladesh and around the world.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disease identification is slow, inconsistent, and often inaccurate due to variations in lighting, leaf angles, and farmers' limited diagnostic expertise.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 Learning and Computer Vision now offer powerful image based solutions that can automatically classify crop leaf conditions with high accuracy.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study uses the Kaggle Pathogen Dataset (40,000 images, 5 classes) containing Bacteria, Fungi, Pest, Virus, and Healthy leaf categories to build a reliable detection system.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Five advanced deep learning models were trained and compared to find the best performing architecture.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goal of this research is to develop an accurate, fast, and scalable multi-class leaf disease classification system that can support farmers through real-time, automated diagnosis.</a:t>
            </a:r>
          </a:p>
        </p:txBody>
      </p:sp>
    </p:spTree>
    <p:extLst>
      <p:ext uri="{BB962C8B-B14F-4D97-AF65-F5344CB8AC3E}">
        <p14:creationId xmlns:p14="http://schemas.microsoft.com/office/powerpoint/2010/main" val="1295605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Objective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50248" y="5989637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B064D8-8C59-7D9E-B404-8CE93061EC37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46F34F4-304E-2906-FCB6-844C39E73A90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085850" y="1859339"/>
            <a:ext cx="1002030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classify five crop leaf categories Bacteria, Fungi, Pest, Virus, and Healthy using deep learning techniques for accurate multi-class disease recognition.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develop and fine-tune state of the art CNN models including DenseNet201, InceptionV3,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Xception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VGG16, and MobileNetV2 for robust leaf image classification.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perform comparative evaluation of all selected models using accuracy, precision, recall, F1-score, and confusion matrix analysis to identify the best-performing architecture.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design a deployment-ready deep learning framework that can later be integrated into mobile or web applications for real-time crop disease prediction and farmer support.</a:t>
            </a:r>
          </a:p>
        </p:txBody>
      </p:sp>
    </p:spTree>
    <p:extLst>
      <p:ext uri="{BB962C8B-B14F-4D97-AF65-F5344CB8AC3E}">
        <p14:creationId xmlns:p14="http://schemas.microsoft.com/office/powerpoint/2010/main" val="825664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Background Study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19768" y="5975351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C18772-518C-E2F8-EBA7-247295C187B5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1E8F678B-9266-34BD-E161-6E56D4485EEB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652666214"/>
              </p:ext>
            </p:extLst>
          </p:nvPr>
        </p:nvGraphicFramePr>
        <p:xfrm>
          <a:off x="609600" y="1524000"/>
          <a:ext cx="10972800" cy="421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60500488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4584219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87247149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5935988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Authors (Years)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Key Contribution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835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 err="1"/>
                        <a:t>Bouacida</a:t>
                      </a:r>
                      <a:r>
                        <a:rPr lang="en-US" sz="1200" b="0" dirty="0"/>
                        <a:t> et al.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Pre-trained CNNs (Transfer Learning)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Multi-crop leaf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Achieved high accuracy cross-crop, proved TL is effective for generalizable plant disease detection.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645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 err="1"/>
                        <a:t>Vallabhajosyula</a:t>
                      </a:r>
                      <a:r>
                        <a:rPr lang="en-US" sz="1200" b="0" dirty="0"/>
                        <a:t> et al.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Residual Vision Transformer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Mixed plant leaf images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Introduced hierarchical </a:t>
                      </a:r>
                      <a:r>
                        <a:rPr lang="en-US" sz="1200" dirty="0" err="1"/>
                        <a:t>ViT</a:t>
                      </a:r>
                      <a:r>
                        <a:rPr lang="en-US" sz="1200" dirty="0"/>
                        <a:t>; improved feature extraction for fine-grained leaf disease patterns.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71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 err="1"/>
                        <a:t>Pacal</a:t>
                      </a:r>
                      <a:r>
                        <a:rPr lang="en-US" sz="1200" b="0" dirty="0"/>
                        <a:t> (2024)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Vision Transformer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30K+ maize leaf images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Achieved 99%+ accuracy; robust NCLB (Northern Corn Leaf Blight) detection in large maize datasets.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009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/>
                        <a:t>Shetty et al. (2024)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YOLOv8 &amp; Faster R-CNN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Guava &amp; mango leaf images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Real-time detection; showed value of object detection models in mobile-based diagnosis.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535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/>
                        <a:t>Jafar et al.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Survey of DL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Multi-crop datasets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Identified limitations of CNN-based systems; highlighted need for more robust field-based datasets.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5301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/>
                        <a:t>Kaur et al. (2024)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Hybrid CNN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Plant leaf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Improved accuracy using hybrid CNN approach; demonstrated superior generalization across disease classes.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9095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4697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Gap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47200" y="5989639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FF9886-9C18-37CA-D495-5A8528FD5C2A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4082D17-0FC6-BD2F-E323-0FB8F62CC4FB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362075" y="1891099"/>
            <a:ext cx="946785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previous studies used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PlantVillage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lab-quality datasets, not real-field crop leaf images containing natural noise, pests, and environmental variation.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Very few studies focused on multi-pathogen classification in a single unified model.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research has explored balanced datasets, as many existing datasets suffer from class imbalance, reducing model generalizability.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works used single CNN architectures, with little comparison across multiple pretrained models or ensemble approaches.</a:t>
            </a:r>
          </a:p>
        </p:txBody>
      </p:sp>
    </p:spTree>
    <p:extLst>
      <p:ext uri="{BB962C8B-B14F-4D97-AF65-F5344CB8AC3E}">
        <p14:creationId xmlns:p14="http://schemas.microsoft.com/office/powerpoint/2010/main" val="825664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Methodology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56344" y="5961650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16528C-6541-3FC8-24E6-91C1C409DF59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pic>
        <p:nvPicPr>
          <p:cNvPr id="5" name="Picture 4" descr="A diagram of a company&#10;&#10;AI-generated content may be incorrect.">
            <a:extLst>
              <a:ext uri="{FF2B5EF4-FFF2-40B4-BE49-F238E27FC236}">
                <a16:creationId xmlns:a16="http://schemas.microsoft.com/office/drawing/2014/main" id="{C154E27A-FBF0-1C77-0CC5-089CBD884B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871" y="1527520"/>
            <a:ext cx="8918258" cy="448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644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E9E5C-71F2-3105-2435-0102C1334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11926-D2A5-F445-0117-A4074CC94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Result and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20640-2CE5-2763-409D-C0C0D296CBC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5989637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0481A9-B6A6-5839-3819-C47F1F1AA0A9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10AF07-26C9-3DA4-1B0E-B23F36416B85}"/>
              </a:ext>
            </a:extLst>
          </p:cNvPr>
          <p:cNvSpPr txBox="1"/>
          <p:nvPr/>
        </p:nvSpPr>
        <p:spPr>
          <a:xfrm>
            <a:off x="1371600" y="1382117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Performance Summary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B65CDE2-2F8B-A47E-2C3C-C2A6FD6A60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2308288"/>
              </p:ext>
            </p:extLst>
          </p:nvPr>
        </p:nvGraphicFramePr>
        <p:xfrm>
          <a:off x="2031999" y="1905000"/>
          <a:ext cx="8128002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8442">
                  <a:extLst>
                    <a:ext uri="{9D8B030D-6E8A-4147-A177-3AD203B41FA5}">
                      <a16:colId xmlns:a16="http://schemas.microsoft.com/office/drawing/2014/main" val="3258637451"/>
                    </a:ext>
                  </a:extLst>
                </a:gridCol>
                <a:gridCol w="1220892">
                  <a:extLst>
                    <a:ext uri="{9D8B030D-6E8A-4147-A177-3AD203B41FA5}">
                      <a16:colId xmlns:a16="http://schemas.microsoft.com/office/drawing/2014/main" val="251060166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228157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2353290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09307837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955858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Validation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6835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Ensemble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99.40%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0659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Densenet201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99.05%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5897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Mobilenetv2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3871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VGG16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1395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Inceptionv3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98.25%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984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/>
                        <a:t>Xception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98.32%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2704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9567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E9E5C-71F2-3105-2435-0102C1334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11926-D2A5-F445-0117-A4074CC94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Result and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20640-2CE5-2763-409D-C0C0D296CBC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5989637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0481A9-B6A6-5839-3819-C47F1F1AA0A9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DC42E8-5E04-41FD-10BC-CB35C0ADA804}"/>
              </a:ext>
            </a:extLst>
          </p:cNvPr>
          <p:cNvSpPr txBox="1"/>
          <p:nvPr/>
        </p:nvSpPr>
        <p:spPr>
          <a:xfrm>
            <a:off x="762000" y="1352468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Confusion Matrix of Ensemble Model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03AAD7-592E-190B-A0F5-8468E2E78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399" y="1941256"/>
            <a:ext cx="4254888" cy="3671944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10C9F83B-3014-C853-6FEC-B0D6B8E129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438400"/>
            <a:ext cx="51816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Accuracy Across All Classes: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Most predictions fall correctly along the diagonal, showing strong class-wise performance for Bacteria, Fungi, Healthy, Pests, and Virus.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Very Low Misclassification Rate: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Only a few minor errors occur between visually similar diseases, indicating the model’s strong discriminative ability.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Reliable for Real-World Use: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Consistently high true positive counts across classes demonstrate that the model can effectively support practical field-level disease diagnosis.</a:t>
            </a:r>
          </a:p>
        </p:txBody>
      </p:sp>
    </p:spTree>
    <p:extLst>
      <p:ext uri="{BB962C8B-B14F-4D97-AF65-F5344CB8AC3E}">
        <p14:creationId xmlns:p14="http://schemas.microsoft.com/office/powerpoint/2010/main" val="2870720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E9E5C-71F2-3105-2435-0102C1334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11926-D2A5-F445-0117-A4074CC94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Result and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20640-2CE5-2763-409D-C0C0D296CBC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5989637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0481A9-B6A6-5839-3819-C47F1F1AA0A9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C02571-19D8-5D77-7535-C485A03DDFB8}"/>
              </a:ext>
            </a:extLst>
          </p:cNvPr>
          <p:cNvSpPr txBox="1"/>
          <p:nvPr/>
        </p:nvSpPr>
        <p:spPr>
          <a:xfrm>
            <a:off x="832104" y="1415534"/>
            <a:ext cx="350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dirty="0">
                <a:latin typeface="Times New Romanm"/>
                <a:ea typeface="Times New Romanm"/>
                <a:cs typeface="Times New Romanm"/>
              </a:rPr>
              <a:t>Roc Curve of Ensemble Model</a:t>
            </a:r>
            <a:endParaRPr lang="en-US" dirty="0">
              <a:latin typeface="Times New Romanm"/>
              <a:cs typeface="Times New Romanm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56E3EB-CB33-F2FD-DEE3-A8010ED05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057400"/>
            <a:ext cx="4187769" cy="3555002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855A44AC-50CB-EF4C-5F2D-3492A81AF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362200"/>
            <a:ext cx="5105400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Excellent Model Performance: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ROC curve reaches near the top-left corner, indicating extremely strong classification capability across all disease classes.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Perfect AUC Score (1.00):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 AUC of 1.00 shows the model can almost perfectly distinguish between healthy and diseased leaf categories.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Minimal False Positives: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curve stays far above the diagonal baseline, meaning the model makes very few incorrect positive predictions.</a:t>
            </a:r>
          </a:p>
        </p:txBody>
      </p:sp>
    </p:spTree>
    <p:extLst>
      <p:ext uri="{BB962C8B-B14F-4D97-AF65-F5344CB8AC3E}">
        <p14:creationId xmlns:p14="http://schemas.microsoft.com/office/powerpoint/2010/main" val="2066479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19151-EE65-F867-548A-B5254C265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EC504-1BCF-FA96-37EA-488F9CF51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Result and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A6456-7733-64E4-CE7E-587E40E8F8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6017676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B14FC1-F67E-8203-7D5B-416E642361A4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088F25-0DF2-84E9-6AD8-505CF836BB4A}"/>
              </a:ext>
            </a:extLst>
          </p:cNvPr>
          <p:cNvSpPr txBox="1"/>
          <p:nvPr/>
        </p:nvSpPr>
        <p:spPr>
          <a:xfrm>
            <a:off x="914400" y="1453634"/>
            <a:ext cx="6330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800" b="0" i="0" u="none" strike="noStrike" cap="none" spc="0" dirty="0">
                <a:solidFill>
                  <a:schemeClr val="tx1"/>
                </a:solidFill>
                <a:latin typeface="Times New Romanm"/>
                <a:ea typeface="Times New Romanm"/>
                <a:cs typeface="Times New Romanm"/>
              </a:rPr>
              <a:t>Training and Validation Accuracy &amp; Loss </a:t>
            </a:r>
            <a:r>
              <a:rPr lang="en-US" dirty="0">
                <a:latin typeface="Times New Romanm"/>
                <a:ea typeface="Times New Romanm"/>
                <a:cs typeface="Times New Romanm"/>
              </a:rPr>
              <a:t>of Ensemble Model</a:t>
            </a:r>
            <a:endParaRPr lang="en-US" dirty="0">
              <a:latin typeface="Times New Romanm"/>
              <a:cs typeface="Times New Romanm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8E1175-2BB3-0BBC-D123-B9D20D462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2133600"/>
            <a:ext cx="8001000" cy="3586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502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A2A34-910C-52FB-12A8-FA252DB35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BF819-FC53-5253-B9E2-DE1A0CDFA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Novelty of the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54D71-E901-049B-93F8-CAD5BC299B0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5959475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882494-1CF7-C6C6-FB3F-1E5CF30DAEEF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3AB8C8E-2D0B-26B1-9D27-BB1C09378318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828800" y="1905000"/>
            <a:ext cx="85344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 balanced dataset (40,000 images) covering five major pathogen classes.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Real-field, multi-crop disease generalization, improving model robustness.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Comprehensive evaluation of 5 pretrained CNNs + ensemble models for performance benchmarking.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Optimized lightweight architecture suitable for deployment on low-resource devices.</a:t>
            </a:r>
          </a:p>
        </p:txBody>
      </p:sp>
    </p:spTree>
    <p:extLst>
      <p:ext uri="{BB962C8B-B14F-4D97-AF65-F5344CB8AC3E}">
        <p14:creationId xmlns:p14="http://schemas.microsoft.com/office/powerpoint/2010/main" val="920274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ED34C-F2CE-1904-46F5-88AEBCFDC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8F151-7ED2-C606-99FB-D15E7A103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50838"/>
            <a:ext cx="9448800" cy="8683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Sample dataset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1460F-2BC7-EBFF-8ED1-489F5E220A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1104" y="6019800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501D11-526D-F3D4-2D04-828C5DF8BC5F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D50CC85-0821-F7BC-B3E0-13687B5EC468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362075" y="1828800"/>
            <a:ext cx="946785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1800" dirty="0">
                <a:solidFill>
                  <a:schemeClr val="tx1"/>
                </a:solidFill>
              </a:rPr>
              <a:t>The dataset used in this project was collected from Kaggle, containing 40,000 crop leaf images across five balanced classes: Bacteria, Fungi, Virus, Pests, and Healthy. All images were captured under diverse real-field conditions, including variations in lighting, orientation, and background noise. This rich and balanced dataset ensured reliable model training, improved generalization, and realistic performance evaluation.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 descr="A close up of a leaf&#10;&#10;AI-generated content may be incorrect.">
            <a:extLst>
              <a:ext uri="{FF2B5EF4-FFF2-40B4-BE49-F238E27FC236}">
                <a16:creationId xmlns:a16="http://schemas.microsoft.com/office/drawing/2014/main" id="{8BB1285F-6F10-F010-D05D-9CC854B7A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3550" y="3886200"/>
            <a:ext cx="6184900" cy="1553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927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ACCF1-4663-0FAC-E557-C8C860184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B699C-3280-7E27-A53B-6B90D91AD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8" y="76200"/>
            <a:ext cx="8915400" cy="8683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Interface of Image Enhancement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21EDD-A921-29EF-524A-2EBB5538B2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5959475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A89BB2-DBB6-BF76-BA68-3DFF2884AD82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6AA3A95-264B-6542-401A-10601C051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266" y="1371600"/>
            <a:ext cx="9787467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50711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47200" y="5959475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B37B8D-F57A-2BA3-3A76-E3DD8C73097F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0852416-5484-D39C-91C7-BA694B6AE3DF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295400" y="1676400"/>
            <a:ext cx="96012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deep learning–based system was successfully developed to identify five major corn leaf diseases using real-field images.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balanced dataset of 40,000 images enabled strong model generalization under diverse agricultural conditions.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CNN architectures were evaluated, with DenseNet201 achieving the highest validation accuracy of 99.05%.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trained model was exported in deployable format, making it suitable for mobile or web-based real-time disease diagnosis.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can significantly support farmers by enabling faster, more accurate, and accessible disease detection in low-resource rural areas.</a:t>
            </a:r>
          </a:p>
        </p:txBody>
      </p:sp>
    </p:spTree>
    <p:extLst>
      <p:ext uri="{BB962C8B-B14F-4D97-AF65-F5344CB8AC3E}">
        <p14:creationId xmlns:p14="http://schemas.microsoft.com/office/powerpoint/2010/main" val="28737059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BAAE9-3B4C-FCEC-50FC-12FB4062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1CA16-AE0D-D369-FE42-59C7313CB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097F1-FADA-324C-E90E-73FFCAEF903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5959475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8FB2A1-531C-6EF4-8574-EB5912211BF6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13E4-3EDE-3EC2-7BE5-EF20D49185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43000" y="1447800"/>
            <a:ext cx="9906000" cy="41148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[1] I. </a:t>
            </a:r>
            <a:r>
              <a:rPr lang="en-US" sz="1400" dirty="0" err="1">
                <a:solidFill>
                  <a:schemeClr val="tx1"/>
                </a:solidFill>
              </a:rPr>
              <a:t>Bouacida</a:t>
            </a:r>
            <a:r>
              <a:rPr lang="en-US" sz="1400" dirty="0">
                <a:solidFill>
                  <a:schemeClr val="tx1"/>
                </a:solidFill>
              </a:rPr>
              <a:t>, B. </a:t>
            </a:r>
            <a:r>
              <a:rPr lang="en-US" sz="1400" dirty="0" err="1">
                <a:solidFill>
                  <a:schemeClr val="tx1"/>
                </a:solidFill>
              </a:rPr>
              <a:t>Farou</a:t>
            </a:r>
            <a:r>
              <a:rPr lang="en-US" sz="1400" dirty="0">
                <a:solidFill>
                  <a:schemeClr val="tx1"/>
                </a:solidFill>
              </a:rPr>
              <a:t>, L. </a:t>
            </a:r>
            <a:r>
              <a:rPr lang="en-US" sz="1400" dirty="0" err="1">
                <a:solidFill>
                  <a:schemeClr val="tx1"/>
                </a:solidFill>
              </a:rPr>
              <a:t>Djakhdjakh</a:t>
            </a:r>
            <a:r>
              <a:rPr lang="en-US" sz="1400" dirty="0">
                <a:solidFill>
                  <a:schemeClr val="tx1"/>
                </a:solidFill>
              </a:rPr>
              <a:t>, H. </a:t>
            </a:r>
            <a:r>
              <a:rPr lang="en-US" sz="1400" dirty="0" err="1">
                <a:solidFill>
                  <a:schemeClr val="tx1"/>
                </a:solidFill>
              </a:rPr>
              <a:t>Seridi</a:t>
            </a:r>
            <a:r>
              <a:rPr lang="en-US" sz="1400" dirty="0">
                <a:solidFill>
                  <a:schemeClr val="tx1"/>
                </a:solidFill>
              </a:rPr>
              <a:t> and M. </a:t>
            </a:r>
            <a:r>
              <a:rPr lang="en-US" sz="1400" dirty="0" err="1">
                <a:solidFill>
                  <a:schemeClr val="tx1"/>
                </a:solidFill>
              </a:rPr>
              <a:t>Kurulay</a:t>
            </a:r>
            <a:r>
              <a:rPr lang="en-US" sz="1400" dirty="0">
                <a:solidFill>
                  <a:schemeClr val="tx1"/>
                </a:solidFill>
              </a:rPr>
              <a:t>, “Innovative deep learning strategy to detect cross-crop plant disease: Generalized detection of unhealthy leaves, Information Processing in Agriculture, vol. 12, no. 1, pp. 5467, 2025.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[2] S. </a:t>
            </a:r>
            <a:r>
              <a:rPr lang="en-US" sz="1400" dirty="0" err="1">
                <a:solidFill>
                  <a:schemeClr val="tx1"/>
                </a:solidFill>
              </a:rPr>
              <a:t>Vallabhajosyula</a:t>
            </a:r>
            <a:r>
              <a:rPr lang="en-US" sz="1400" dirty="0">
                <a:solidFill>
                  <a:schemeClr val="tx1"/>
                </a:solidFill>
              </a:rPr>
              <a:t>, V. </a:t>
            </a:r>
            <a:r>
              <a:rPr lang="en-US" sz="1400" dirty="0" err="1">
                <a:solidFill>
                  <a:schemeClr val="tx1"/>
                </a:solidFill>
              </a:rPr>
              <a:t>Sistla</a:t>
            </a:r>
            <a:r>
              <a:rPr lang="en-US" sz="1400" dirty="0">
                <a:solidFill>
                  <a:schemeClr val="tx1"/>
                </a:solidFill>
              </a:rPr>
              <a:t> and V. K. K. </a:t>
            </a:r>
            <a:r>
              <a:rPr lang="en-US" sz="1400" dirty="0" err="1">
                <a:solidFill>
                  <a:schemeClr val="tx1"/>
                </a:solidFill>
              </a:rPr>
              <a:t>Kolli</a:t>
            </a:r>
            <a:r>
              <a:rPr lang="en-US" sz="1400" dirty="0">
                <a:solidFill>
                  <a:schemeClr val="tx1"/>
                </a:solidFill>
              </a:rPr>
              <a:t>, “A hierarchical view of plant leaf disease detection with residual vision transformer score point of view envisioning mechanism, </a:t>
            </a:r>
            <a:r>
              <a:rPr lang="en-US" sz="1400" dirty="0" err="1">
                <a:solidFill>
                  <a:schemeClr val="tx1"/>
                </a:solidFill>
              </a:rPr>
              <a:t>Heliyon</a:t>
            </a:r>
            <a:r>
              <a:rPr lang="en-US" sz="1400" dirty="0">
                <a:solidFill>
                  <a:schemeClr val="tx1"/>
                </a:solidFill>
              </a:rPr>
              <a:t>, vol. 10, no. 9, 2024.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[3] A. Jafar, N. Bibi, R. A. Naqvi, A. Sadeghi-</a:t>
            </a:r>
            <a:r>
              <a:rPr lang="en-US" sz="1400" dirty="0" err="1">
                <a:solidFill>
                  <a:schemeClr val="tx1"/>
                </a:solidFill>
              </a:rPr>
              <a:t>Niaraki</a:t>
            </a:r>
            <a:r>
              <a:rPr lang="en-US" sz="1400" dirty="0">
                <a:solidFill>
                  <a:schemeClr val="tx1"/>
                </a:solidFill>
              </a:rPr>
              <a:t> and D. Jeong, Revolutionizing agriculture with artificial intelligence, detection methods and applications of plant diseases, limitations, vol. 15, p. 1356260, 2024, Frontiers in Plant Science.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[4] K. Mahadevan, A. </a:t>
            </a:r>
            <a:r>
              <a:rPr lang="en-US" sz="1400" dirty="0" err="1">
                <a:solidFill>
                  <a:schemeClr val="tx1"/>
                </a:solidFill>
              </a:rPr>
              <a:t>Punitha</a:t>
            </a:r>
            <a:r>
              <a:rPr lang="en-US" sz="1400" dirty="0">
                <a:solidFill>
                  <a:schemeClr val="tx1"/>
                </a:solidFill>
              </a:rPr>
              <a:t> and J. Suresh, Automatic recognition of rice plant leaf diseases by deep neural network with enhanced threshold neural network, vol. 8, p. 100534, 2024, e-Prime -Advances in Electrical Engineering, Electronics and Energy.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[5] H. N. Ngugi, A. E. </a:t>
            </a:r>
            <a:r>
              <a:rPr lang="en-US" sz="1400" dirty="0" err="1">
                <a:solidFill>
                  <a:schemeClr val="tx1"/>
                </a:solidFill>
              </a:rPr>
              <a:t>Ezugwu</a:t>
            </a:r>
            <a:r>
              <a:rPr lang="en-US" sz="1400" dirty="0">
                <a:solidFill>
                  <a:schemeClr val="tx1"/>
                </a:solidFill>
              </a:rPr>
              <a:t>, A. A. </a:t>
            </a:r>
            <a:r>
              <a:rPr lang="en-US" sz="1400" dirty="0" err="1">
                <a:solidFill>
                  <a:schemeClr val="tx1"/>
                </a:solidFill>
              </a:rPr>
              <a:t>Akinyelu</a:t>
            </a:r>
            <a:r>
              <a:rPr lang="en-US" sz="1400" dirty="0">
                <a:solidFill>
                  <a:schemeClr val="tx1"/>
                </a:solidFill>
              </a:rPr>
              <a:t> and L. </a:t>
            </a:r>
            <a:r>
              <a:rPr lang="en-US" sz="1400" dirty="0" err="1">
                <a:solidFill>
                  <a:schemeClr val="tx1"/>
                </a:solidFill>
              </a:rPr>
              <a:t>Abualigah</a:t>
            </a:r>
            <a:r>
              <a:rPr lang="en-US" sz="1400" dirty="0">
                <a:solidFill>
                  <a:schemeClr val="tx1"/>
                </a:solidFill>
              </a:rPr>
              <a:t>, Revolutionizing crop disease detection by computational deep learning: a comprehensive review, Environmental Monitoring and Assessment, vol. 196, no. 3, p. 302, 2024.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[6] P. Kaur, A. M. Mishra, N. Goyal, S. K. Gupta, A. Shankar and W. </a:t>
            </a:r>
            <a:r>
              <a:rPr lang="en-US" sz="1400" dirty="0" err="1">
                <a:solidFill>
                  <a:schemeClr val="tx1"/>
                </a:solidFill>
              </a:rPr>
              <a:t>Viriyasitavat</a:t>
            </a:r>
            <a:r>
              <a:rPr lang="en-US" sz="1400" dirty="0">
                <a:solidFill>
                  <a:schemeClr val="tx1"/>
                </a:solidFill>
              </a:rPr>
              <a:t>, “A new hybrid CNN based leaf disease detection and classification methodology, Expert Systems, vol. 41, no. 7, p. e13543, 2024. </a:t>
            </a: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54695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6000" b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60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</a:p>
          <a:p>
            <a:pPr marL="0" indent="0" algn="r">
              <a:buNone/>
            </a:pP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50248" y="5959475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BB629C-0461-0D8C-DA5C-C136AD5443E5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</p:spTree>
    <p:extLst>
      <p:ext uri="{BB962C8B-B14F-4D97-AF65-F5344CB8AC3E}">
        <p14:creationId xmlns:p14="http://schemas.microsoft.com/office/powerpoint/2010/main" val="2459516608"/>
      </p:ext>
    </p:extLst>
  </p:cSld>
  <p:clrMapOvr>
    <a:masterClrMapping/>
  </p:clrMapOvr>
</p:sld>
</file>

<file path=ppt/theme/theme1.xml><?xml version="1.0" encoding="utf-8"?>
<a:theme xmlns:a="http://schemas.openxmlformats.org/drawingml/2006/main" name="New Microsoft PowerPoint Presenta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 Microsoft PowerPoint Presentation</Template>
  <TotalTime>1621</TotalTime>
  <Words>1478</Words>
  <Application>Microsoft Office PowerPoint</Application>
  <PresentationFormat>Widescreen</PresentationFormat>
  <Paragraphs>192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Times New Roman</vt:lpstr>
      <vt:lpstr>Times New Romanm</vt:lpstr>
      <vt:lpstr>Wingdings</vt:lpstr>
      <vt:lpstr>New Microsoft PowerPoint Presentation</vt:lpstr>
      <vt:lpstr>A Deep Learning Approach for Multi class Crop Leaf Classifications</vt:lpstr>
      <vt:lpstr>Outline</vt:lpstr>
      <vt:lpstr>Introduction</vt:lpstr>
      <vt:lpstr>Objective</vt:lpstr>
      <vt:lpstr>Background Study</vt:lpstr>
      <vt:lpstr>Gap Analysis</vt:lpstr>
      <vt:lpstr>Methodology</vt:lpstr>
      <vt:lpstr>Result and Analysis</vt:lpstr>
      <vt:lpstr>Result and Analysis</vt:lpstr>
      <vt:lpstr>Result and Analysis</vt:lpstr>
      <vt:lpstr>Result and Analysis</vt:lpstr>
      <vt:lpstr>Novelty of the Work</vt:lpstr>
      <vt:lpstr>Sample dataset</vt:lpstr>
      <vt:lpstr>Web Interface of Image Enhancement</vt:lpstr>
      <vt:lpstr>Conclusion</vt:lpstr>
      <vt:lpstr>References</vt:lpstr>
      <vt:lpstr>PowerPoint Presentation</vt:lpstr>
    </vt:vector>
  </TitlesOfParts>
  <Company>Acer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Valued Acer Customer</dc:creator>
  <cp:lastModifiedBy>Shakib Rahman</cp:lastModifiedBy>
  <cp:revision>273</cp:revision>
  <dcterms:created xsi:type="dcterms:W3CDTF">2011-07-17T02:56:35Z</dcterms:created>
  <dcterms:modified xsi:type="dcterms:W3CDTF">2026-01-05T10:57:34Z</dcterms:modified>
</cp:coreProperties>
</file>