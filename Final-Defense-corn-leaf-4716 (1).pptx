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3">
  <p:sldMasterIdLst>
    <p:sldMasterId id="2147483659" r:id="rId1"/>
  </p:sldMasterIdLst>
  <p:notesMasterIdLst>
    <p:notesMasterId r:id="rId22"/>
  </p:notesMasterIdLst>
  <p:sldIdLst>
    <p:sldId id="256" r:id="rId2"/>
    <p:sldId id="264" r:id="rId3"/>
    <p:sldId id="280" r:id="rId4"/>
    <p:sldId id="293" r:id="rId5"/>
    <p:sldId id="296" r:id="rId6"/>
    <p:sldId id="294" r:id="rId7"/>
    <p:sldId id="297" r:id="rId8"/>
    <p:sldId id="298" r:id="rId9"/>
    <p:sldId id="306" r:id="rId10"/>
    <p:sldId id="308" r:id="rId11"/>
    <p:sldId id="309" r:id="rId12"/>
    <p:sldId id="311" r:id="rId13"/>
    <p:sldId id="310" r:id="rId14"/>
    <p:sldId id="300" r:id="rId15"/>
    <p:sldId id="305" r:id="rId16"/>
    <p:sldId id="304" r:id="rId17"/>
    <p:sldId id="307" r:id="rId18"/>
    <p:sldId id="291" r:id="rId19"/>
    <p:sldId id="299" r:id="rId20"/>
    <p:sldId id="295" r:id="rId21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81BD"/>
    <a:srgbClr val="215968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>
      <p:cViewPr varScale="1">
        <p:scale>
          <a:sx n="78" d="100"/>
          <a:sy n="78" d="100"/>
        </p:scale>
        <p:origin x="869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F2D6876-F133-46D3-95E2-A34AD9BDC8CB}" type="datetimeFigureOut">
              <a:rPr lang="en-US"/>
              <a:pPr>
                <a:defRPr/>
              </a:pPr>
              <a:t>1/5/2026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1DA40400-4F5E-4E00-9BB5-F457594CE7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56421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600" y="1676400"/>
            <a:ext cx="10972800" cy="3962400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75000"/>
                  </a:schemeClr>
                </a:solidFill>
              </a:defRPr>
            </a:lvl2pPr>
            <a:lvl3pPr>
              <a:defRPr>
                <a:solidFill>
                  <a:schemeClr val="accent2">
                    <a:lumMod val="75000"/>
                  </a:schemeClr>
                </a:solidFill>
              </a:defRPr>
            </a:lvl3pPr>
            <a:lvl4pPr>
              <a:defRPr>
                <a:solidFill>
                  <a:schemeClr val="accent6">
                    <a:lumMod val="75000"/>
                  </a:schemeClr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7AD9AE-DAF0-4070-950A-9E3660EBE497}" type="datetime1">
              <a:rPr lang="en-US" smtClean="0"/>
              <a:pPr>
                <a:defRPr/>
              </a:pPr>
              <a:t>1/5/2026</a:t>
            </a:fld>
            <a:endParaRPr lang="en-US"/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1" name="Picture 1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609600" y="6356351"/>
            <a:ext cx="1538817" cy="471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Rectangle 11"/>
          <p:cNvSpPr/>
          <p:nvPr userDrawn="1"/>
        </p:nvSpPr>
        <p:spPr>
          <a:xfrm>
            <a:off x="2336801" y="6356351"/>
            <a:ext cx="9842500" cy="4652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/>
              <a:t>B.Sc. Pre-Defense</a:t>
            </a:r>
            <a:endParaRPr lang="en-US" b="1" dirty="0"/>
          </a:p>
        </p:txBody>
      </p:sp>
      <p:sp>
        <p:nvSpPr>
          <p:cNvPr id="13" name="Rectangle 12"/>
          <p:cNvSpPr/>
          <p:nvPr userDrawn="1"/>
        </p:nvSpPr>
        <p:spPr>
          <a:xfrm>
            <a:off x="0" y="0"/>
            <a:ext cx="121920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2636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3759200" y="0"/>
            <a:ext cx="8432800" cy="6858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/>
              <a:t>B.Sc. Pre-Defense</a:t>
            </a:r>
            <a:endParaRPr lang="en-US" b="1" dirty="0"/>
          </a:p>
        </p:txBody>
      </p:sp>
      <p:pic>
        <p:nvPicPr>
          <p:cNvPr id="6" name="Picture 1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46051" y="76200"/>
            <a:ext cx="2444749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 userDrawn="1"/>
        </p:nvSpPr>
        <p:spPr>
          <a:xfrm>
            <a:off x="3555999" y="3271960"/>
            <a:ext cx="5080000" cy="5334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/>
              <a:t>Presented by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43000"/>
            <a:ext cx="10363200" cy="1752600"/>
          </a:xfrm>
        </p:spPr>
        <p:txBody>
          <a:bodyPr/>
          <a:lstStyle>
            <a:lvl1pPr>
              <a:defRPr b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02707" y="3959471"/>
            <a:ext cx="5986585" cy="2209800"/>
          </a:xfrm>
        </p:spPr>
        <p:txBody>
          <a:bodyPr>
            <a:normAutofit/>
          </a:bodyPr>
          <a:lstStyle>
            <a:lvl1pPr marL="0" indent="0" algn="ctr">
              <a:buNone/>
              <a:defRPr sz="27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C254C3-6D07-4044-A98A-C7B9FCC216AA}" type="datetime1">
              <a:rPr lang="en-US"/>
              <a:pPr>
                <a:defRPr/>
              </a:pPr>
              <a:t>1/5/2026</a:t>
            </a:fld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2AF6E4-9F0F-4D32-8D8E-755B2E69BA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304801" y="5943600"/>
            <a:ext cx="153881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 userDrawn="1"/>
        </p:nvSpPr>
        <p:spPr>
          <a:xfrm>
            <a:off x="2336801" y="5943600"/>
            <a:ext cx="98425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/>
              <a:t>Final Year Defense</a:t>
            </a:r>
            <a:endParaRPr lang="en-US" b="1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0"/>
            <a:ext cx="121920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600" y="1676400"/>
            <a:ext cx="10972800" cy="3962400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75000"/>
                  </a:schemeClr>
                </a:solidFill>
              </a:defRPr>
            </a:lvl2pPr>
            <a:lvl3pPr>
              <a:defRPr>
                <a:solidFill>
                  <a:schemeClr val="accent2">
                    <a:lumMod val="75000"/>
                  </a:schemeClr>
                </a:solidFill>
              </a:defRPr>
            </a:lvl3pPr>
            <a:lvl4pPr>
              <a:defRPr>
                <a:solidFill>
                  <a:schemeClr val="accent6">
                    <a:lumMod val="75000"/>
                  </a:schemeClr>
                </a:solidFill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7AD9AE-DAF0-4070-950A-9E3660EBE497}" type="datetime1">
              <a:rPr lang="en-US"/>
              <a:pPr>
                <a:defRPr/>
              </a:pPr>
              <a:t>1/5/2026</a:t>
            </a:fld>
            <a:endParaRPr lang="en-US"/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D333A3-7515-47B8-9EDC-EE0892D9C8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58" r:id="rId1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914400" y="1295400"/>
            <a:ext cx="10363200" cy="1752600"/>
          </a:xfrm>
        </p:spPr>
        <p:txBody>
          <a:bodyPr rtlCol="0">
            <a:normAutofit/>
          </a:bodyPr>
          <a:lstStyle/>
          <a:p>
            <a:r>
              <a:rPr lang="en-US" sz="4400" b="1" i="0" u="none" strike="noStrike" cap="none" spc="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Deep Learning Based Corn Leaf Disease</a:t>
            </a:r>
            <a:br>
              <a:rPr lang="en-US" sz="4400" b="1" i="0" u="none" strike="noStrike" cap="none" spc="0" dirty="0">
                <a:solidFill>
                  <a:schemeClr val="tx1"/>
                </a:solidFill>
                <a:latin typeface="Times New Roman"/>
                <a:cs typeface="Times New Roman"/>
              </a:rPr>
            </a:br>
            <a:r>
              <a:rPr lang="en-US" sz="4400" b="1" i="0" u="none" strike="noStrike" cap="none" spc="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Classification Using CNN Architecture</a:t>
            </a:r>
            <a:endParaRPr lang="en-US" dirty="0">
              <a:solidFill>
                <a:srgbClr val="7030A0"/>
              </a:solidFill>
              <a:effectLst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FC8551-41BC-7160-AB58-5A1854853554}"/>
              </a:ext>
            </a:extLst>
          </p:cNvPr>
          <p:cNvSpPr txBox="1"/>
          <p:nvPr/>
        </p:nvSpPr>
        <p:spPr>
          <a:xfrm>
            <a:off x="8906256" y="185335"/>
            <a:ext cx="3276600" cy="369332"/>
          </a:xfrm>
          <a:prstGeom prst="rect">
            <a:avLst/>
          </a:prstGeom>
          <a:solidFill>
            <a:srgbClr val="215968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97B38FB-D3AB-6992-441F-DA3FC05ED1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29" y="3048000"/>
            <a:ext cx="11231542" cy="309605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Outline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 Study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Gap Analysis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Analysis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Novelty of the Work</a:t>
            </a:r>
          </a:p>
          <a:p>
            <a:pPr>
              <a:buFont typeface="Wingdings" pitchFamily="2" charset="2"/>
              <a:buChar char="Ø"/>
            </a:pPr>
            <a:r>
              <a:rPr lang="en-US" sz="2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 Dataset &amp; Expected Output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Interface 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>
          <a:xfrm>
            <a:off x="9296400" y="5989637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74EFF0-3D03-C0F9-F0D4-A9D3482709F0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Introduction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>
          <a:xfrm>
            <a:off x="9347200" y="6019800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1160C4-4E81-64AE-82AE-E159832FFEF8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A3836E-8F2C-972B-F1A3-5B538D693CF3}"/>
              </a:ext>
            </a:extLst>
          </p:cNvPr>
          <p:cNvSpPr txBox="1"/>
          <p:nvPr/>
        </p:nvSpPr>
        <p:spPr>
          <a:xfrm>
            <a:off x="5204011" y="2528047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A59A948-F598-A1BE-DF2D-F3EB5CCD835C}"/>
              </a:ext>
            </a:extLst>
          </p:cNvPr>
          <p:cNvSpPr>
            <a:spLocks noGrp="1"/>
          </p:cNvSpPr>
          <p:nvPr>
            <p:ph sz="quarter" idx="13"/>
          </p:nvPr>
        </p:nvSpPr>
        <p:spPr bwMode="auto">
          <a:xfrm>
            <a:off x="609600" y="1676400"/>
            <a:ext cx="10972800" cy="3962400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14999"/>
              </a:lnSpc>
              <a:defRPr/>
            </a:pPr>
            <a:r>
              <a:rPr sz="20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Corn is an important crop used for food, animal feed, and many industries.</a:t>
            </a:r>
            <a:endParaRPr sz="2000" b="0" dirty="0"/>
          </a:p>
          <a:p>
            <a:pPr algn="just">
              <a:lnSpc>
                <a:spcPct val="114999"/>
              </a:lnSpc>
              <a:defRPr/>
            </a:pPr>
            <a:r>
              <a:rPr sz="20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Its production often decreases because of leaf diseases like Common Rust, Corn Leaf Blight, Gray Leaf Spot, and Maize Chlorotic Mottle Virus.</a:t>
            </a:r>
            <a:endParaRPr sz="2000" b="0" dirty="0"/>
          </a:p>
          <a:p>
            <a:pPr algn="just">
              <a:lnSpc>
                <a:spcPct val="114999"/>
              </a:lnSpc>
              <a:defRPr/>
            </a:pPr>
            <a:r>
              <a:rPr sz="20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Farmers usually check leaves by hand, but this method is slow, tiring, and not always accurate, especially in real field conditions.</a:t>
            </a:r>
            <a:endParaRPr sz="2000" b="0" dirty="0"/>
          </a:p>
          <a:p>
            <a:pPr algn="just">
              <a:lnSpc>
                <a:spcPct val="114999"/>
              </a:lnSpc>
              <a:defRPr/>
            </a:pPr>
            <a:r>
              <a:rPr sz="20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Modern Deep Learning and Computer Vision can now detect diseases automatically from leaf images with high accuracy.</a:t>
            </a:r>
            <a:endParaRPr sz="2000" b="0" dirty="0"/>
          </a:p>
          <a:p>
            <a:pPr algn="just">
              <a:lnSpc>
                <a:spcPct val="114999"/>
              </a:lnSpc>
              <a:defRPr/>
            </a:pPr>
            <a:r>
              <a:rPr sz="20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 this project, a deep-learning system was built using real corn leaf photos collected from Shahjahanpur, </a:t>
            </a:r>
            <a:r>
              <a:rPr sz="2000" b="0" i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Bogura</a:t>
            </a:r>
            <a:r>
              <a:rPr sz="20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dirty="0"/>
          </a:p>
          <a:p>
            <a:pPr algn="just">
              <a:lnSpc>
                <a:spcPct val="114999"/>
              </a:lnSpc>
              <a:defRPr/>
            </a:pPr>
            <a:r>
              <a:rPr sz="20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Several advanced CNN models and ensemble methods were tested to find the best and most reliable model for practical use in agriculture.</a:t>
            </a:r>
            <a:endParaRPr sz="2000" b="0" dirty="0"/>
          </a:p>
        </p:txBody>
      </p:sp>
    </p:spTree>
    <p:extLst>
      <p:ext uri="{BB962C8B-B14F-4D97-AF65-F5344CB8AC3E}">
        <p14:creationId xmlns:p14="http://schemas.microsoft.com/office/powerpoint/2010/main" val="1295605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Objective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>
          <a:xfrm>
            <a:off x="9350248" y="5989637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B064D8-8C59-7D9E-B404-8CE93061EC37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FD20D56-A01E-AA46-BDD1-D5B0B210594D}"/>
              </a:ext>
            </a:extLst>
          </p:cNvPr>
          <p:cNvSpPr>
            <a:spLocks noGrp="1"/>
          </p:cNvSpPr>
          <p:nvPr>
            <p:ph sz="quarter" idx="13"/>
          </p:nvPr>
        </p:nvSpPr>
        <p:spPr bwMode="auto">
          <a:xfrm>
            <a:off x="509016" y="1764792"/>
            <a:ext cx="10972800" cy="396240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/>
          </a:bodyPr>
          <a:lstStyle/>
          <a:p>
            <a:pPr marL="327936" indent="-327936" algn="just">
              <a:lnSpc>
                <a:spcPct val="114999"/>
              </a:lnSpc>
              <a:buFont typeface="Arial"/>
              <a:buAutoNum type="arabicPeriod"/>
              <a:defRPr/>
            </a:pPr>
            <a:r>
              <a:rPr sz="21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 classify five major corn leaf conditions Common Rust, Corn Leaf Blight, Gray Leaf Spot, Maize Chlorotic Mottle Virus, and Healthy Leaf using deep learning techniques.</a:t>
            </a:r>
            <a:endParaRPr sz="2100" b="0" dirty="0"/>
          </a:p>
          <a:p>
            <a:pPr marL="327936" indent="-327936" algn="just">
              <a:lnSpc>
                <a:spcPct val="114999"/>
              </a:lnSpc>
              <a:buFont typeface="Arial"/>
              <a:buAutoNum type="arabicPeriod"/>
              <a:defRPr/>
            </a:pPr>
            <a:r>
              <a:rPr sz="21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 develop and fine-tune state-of-the-art CNN architectures for accurate and reliable corn leaf disease detection under real-field conditions.</a:t>
            </a:r>
          </a:p>
          <a:p>
            <a:pPr marL="327935" indent="-327935" algn="just">
              <a:lnSpc>
                <a:spcPct val="114999"/>
              </a:lnSpc>
              <a:buFont typeface="Arial"/>
              <a:buAutoNum type="arabicPeriod"/>
              <a:defRPr/>
            </a:pPr>
            <a:r>
              <a:rPr lang="en-US" sz="2100" b="0" i="0" u="none" strike="noStrike" cap="none" spc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 build three ensemble models and one hybrid CNN model that use multiple networks together to improve accuracy and reliability in corn leaf disease detection.</a:t>
            </a:r>
            <a:endParaRPr sz="2100" b="0" dirty="0"/>
          </a:p>
          <a:p>
            <a:pPr marL="327936" indent="-327936" algn="just">
              <a:lnSpc>
                <a:spcPct val="114999"/>
              </a:lnSpc>
              <a:buFont typeface="Arial"/>
              <a:buAutoNum type="arabicPeriod"/>
              <a:defRPr/>
            </a:pPr>
            <a:r>
              <a:rPr sz="21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 perform a comparative evaluation of multiple deep learning models and identify the most robust architecture based on accuracy, precision, recall, F1-score, MCC, and cross-validation.</a:t>
            </a:r>
            <a:endParaRPr sz="2100" b="0" dirty="0"/>
          </a:p>
          <a:p>
            <a:pPr marL="327936" indent="-327936" algn="just">
              <a:lnSpc>
                <a:spcPct val="114999"/>
              </a:lnSpc>
              <a:buFont typeface="Arial"/>
              <a:buAutoNum type="arabicPeriod"/>
              <a:defRPr/>
            </a:pPr>
            <a:r>
              <a:rPr sz="21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 design a deployable deep learning model that can be integrated into mobile or web-based systems for real-time corn leaf disease diagnosis.</a:t>
            </a:r>
            <a:endParaRPr sz="2100" b="0" dirty="0"/>
          </a:p>
        </p:txBody>
      </p:sp>
    </p:spTree>
    <p:extLst>
      <p:ext uri="{BB962C8B-B14F-4D97-AF65-F5344CB8AC3E}">
        <p14:creationId xmlns:p14="http://schemas.microsoft.com/office/powerpoint/2010/main" val="825664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Background Study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>
          <a:xfrm>
            <a:off x="9319768" y="5975351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C18772-518C-E2F8-EBA7-247295C187B5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graphicFrame>
        <p:nvGraphicFramePr>
          <p:cNvPr id="3" name="Table 1155792004">
            <a:extLst>
              <a:ext uri="{FF2B5EF4-FFF2-40B4-BE49-F238E27FC236}">
                <a16:creationId xmlns:a16="http://schemas.microsoft.com/office/drawing/2014/main" id="{1AAB59B8-C22D-EC92-0521-5E07B5E53C70}"/>
              </a:ext>
            </a:extLst>
          </p:cNvPr>
          <p:cNvGraphicFramePr>
            <a:graphicFrameLocks/>
          </p:cNvGraphicFramePr>
          <p:nvPr/>
        </p:nvGraphicFramePr>
        <p:xfrm>
          <a:off x="984504" y="1527048"/>
          <a:ext cx="10341864" cy="451713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25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19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28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417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476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>
                          <a:latin typeface="Times New Roman"/>
                          <a:cs typeface="Times New Roman"/>
                        </a:rPr>
                        <a:t>Authors (Year)</a:t>
                      </a:r>
                      <a:endParaRPr/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>
                          <a:latin typeface="Times New Roman"/>
                          <a:cs typeface="Times New Roman"/>
                        </a:rPr>
                        <a:t>Model Used</a:t>
                      </a:r>
                      <a:endParaRPr/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>
                          <a:latin typeface="Times New Roman"/>
                          <a:cs typeface="Times New Roman"/>
                        </a:rPr>
                        <a:t>Dataset</a:t>
                      </a:r>
                      <a:endParaRPr/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>
                          <a:latin typeface="Times New Roman"/>
                          <a:cs typeface="Times New Roman"/>
                        </a:rPr>
                        <a:t>Key Contribution / Finding</a:t>
                      </a:r>
                      <a:endParaRPr/>
                    </a:p>
                  </a:txBody>
                  <a:tcPr marL="9524" marR="9524" marT="9524" marB="952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4519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1" u="none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Fraiwan et al. (2022)</a:t>
                      </a:r>
                      <a:endParaRPr sz="12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0" u="none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Pre-trained CNNs (Transfer Learning)</a:t>
                      </a:r>
                      <a:endParaRPr sz="1200" b="0">
                        <a:latin typeface="Times New Roman"/>
                        <a:cs typeface="Times New Roman"/>
                      </a:endParaRPr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0" u="none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Corn leaf images</a:t>
                      </a:r>
                      <a:endParaRPr sz="1200" b="0">
                        <a:latin typeface="Times New Roman"/>
                        <a:cs typeface="Times New Roman"/>
                      </a:endParaRPr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0" u="none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Achieved 98.6% accuracy without heavy preprocessing; showed TL is highly effective.</a:t>
                      </a:r>
                      <a:endParaRPr sz="1200" b="0">
                        <a:latin typeface="Times New Roman"/>
                        <a:cs typeface="Times New Roman"/>
                      </a:endParaRPr>
                    </a:p>
                  </a:txBody>
                  <a:tcPr marL="9524" marR="9524" marT="9524" marB="952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4519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1" u="none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Li et al. (2023)</a:t>
                      </a:r>
                      <a:endParaRPr sz="12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0" u="none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MDCDenseNet (Multi-dilated + CBAM)</a:t>
                      </a:r>
                      <a:endParaRPr sz="1200" b="0">
                        <a:latin typeface="Times New Roman"/>
                        <a:cs typeface="Times New Roman"/>
                      </a:endParaRPr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0" u="none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Small, noisy, complex-background maize images</a:t>
                      </a:r>
                      <a:endParaRPr sz="1200" b="0">
                        <a:latin typeface="Times New Roman"/>
                        <a:cs typeface="Times New Roman"/>
                      </a:endParaRPr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0" u="none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Improved robustness; strong performance in real-field-like noisy data.</a:t>
                      </a:r>
                      <a:endParaRPr sz="1200" b="0">
                        <a:latin typeface="Times New Roman"/>
                        <a:cs typeface="Times New Roman"/>
                      </a:endParaRPr>
                    </a:p>
                  </a:txBody>
                  <a:tcPr marL="9524" marR="9524" marT="9524" marB="952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476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1" u="none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Wang et al. (2022)</a:t>
                      </a:r>
                      <a:endParaRPr sz="12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0" u="none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Improved GoogleNet + ArcFace + A-Softmax</a:t>
                      </a:r>
                      <a:endParaRPr sz="1200" b="0">
                        <a:latin typeface="Times New Roman"/>
                        <a:cs typeface="Times New Roman"/>
                      </a:endParaRPr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0" u="none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30,000+ NCLB images (augmented)</a:t>
                      </a:r>
                      <a:endParaRPr sz="1200" b="0">
                        <a:latin typeface="Times New Roman"/>
                        <a:cs typeface="Times New Roman"/>
                      </a:endParaRPr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0" u="none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Highest reported accuracy (99.94%); excellent NCLB detection.</a:t>
                      </a:r>
                      <a:endParaRPr sz="1200" b="0">
                        <a:latin typeface="Times New Roman"/>
                        <a:cs typeface="Times New Roman"/>
                      </a:endParaRPr>
                    </a:p>
                  </a:txBody>
                  <a:tcPr marL="9524" marR="9524" marT="9524" marB="952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4519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1" u="none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Divyanth et al. (2023)</a:t>
                      </a:r>
                      <a:endParaRPr sz="12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0" u="none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UNet → DeepLabV3+ (Two-stage segmentation)</a:t>
                      </a:r>
                      <a:endParaRPr sz="1200" b="0">
                        <a:latin typeface="Times New Roman"/>
                        <a:cs typeface="Times New Roman"/>
                      </a:endParaRPr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0" u="none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Real field corn images</a:t>
                      </a:r>
                      <a:endParaRPr sz="1200" b="0">
                        <a:latin typeface="Times New Roman"/>
                        <a:cs typeface="Times New Roman"/>
                      </a:endParaRPr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0" u="none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High lesion segmentation accuracy (mIoU = 0.9422); supports severity estimation.</a:t>
                      </a:r>
                      <a:endParaRPr sz="1200" b="0">
                        <a:latin typeface="Times New Roman"/>
                        <a:cs typeface="Times New Roman"/>
                      </a:endParaRPr>
                    </a:p>
                  </a:txBody>
                  <a:tcPr marL="9524" marR="9524" marT="9524" marB="9524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476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1" u="none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Khan et al. (2023)</a:t>
                      </a:r>
                      <a:endParaRPr sz="12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0" u="none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YOLOv3-tiny → YOLOv8n</a:t>
                      </a:r>
                      <a:endParaRPr sz="1200" b="0">
                        <a:latin typeface="Times New Roman"/>
                        <a:cs typeface="Times New Roman"/>
                      </a:endParaRPr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0" u="none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Mobile-captured maize leaf images</a:t>
                      </a:r>
                      <a:endParaRPr sz="1200" b="0">
                        <a:latin typeface="Times New Roman"/>
                        <a:cs typeface="Times New Roman"/>
                      </a:endParaRPr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0" u="none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Real-time detection on mobile; 99.04% accuracy on device.</a:t>
                      </a:r>
                      <a:endParaRPr sz="1200" b="0">
                        <a:latin typeface="Times New Roman"/>
                        <a:cs typeface="Times New Roman"/>
                      </a:endParaRPr>
                    </a:p>
                  </a:txBody>
                  <a:tcPr marL="9524" marR="9524" marT="9524" marB="9524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4519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1" u="none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Gopalan et al. (2025)</a:t>
                      </a:r>
                      <a:endParaRPr sz="12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0" u="none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ResNet152 + Grad-CAM</a:t>
                      </a:r>
                      <a:endParaRPr sz="1200" b="0">
                        <a:latin typeface="Times New Roman"/>
                        <a:cs typeface="Times New Roman"/>
                      </a:endParaRPr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0" u="none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Corn leaf dataset</a:t>
                      </a:r>
                      <a:endParaRPr sz="1200" b="0">
                        <a:latin typeface="Times New Roman"/>
                        <a:cs typeface="Times New Roman"/>
                      </a:endParaRPr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0" u="none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High accuracy + explainability; visualizes disease regions effectively.</a:t>
                      </a:r>
                      <a:endParaRPr sz="1200" b="0">
                        <a:latin typeface="Times New Roman"/>
                        <a:cs typeface="Times New Roman"/>
                      </a:endParaRPr>
                    </a:p>
                  </a:txBody>
                  <a:tcPr marL="9524" marR="9524" marT="9524" marB="9524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476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1" u="none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Bachhal et al. (2024)</a:t>
                      </a:r>
                      <a:endParaRPr sz="12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0" u="none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PSPNet + ResNet50 + Fuzzy-SVM</a:t>
                      </a:r>
                      <a:endParaRPr sz="1200" b="0">
                        <a:latin typeface="Times New Roman"/>
                        <a:cs typeface="Times New Roman"/>
                      </a:endParaRPr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0" u="none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Hybrid dataset</a:t>
                      </a:r>
                      <a:endParaRPr sz="1200" b="0">
                        <a:latin typeface="Times New Roman"/>
                        <a:cs typeface="Times New Roman"/>
                      </a:endParaRPr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0" u="none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Robust hybrid pipeline; 96.7% </a:t>
                      </a:r>
                      <a:r>
                        <a:rPr sz="1200" b="0" u="none" dirty="0" err="1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mAP</a:t>
                      </a:r>
                      <a:r>
                        <a:rPr sz="1200" b="0" u="none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for maize leaf disease recognition.</a:t>
                      </a:r>
                      <a:endParaRPr sz="1200" b="0" dirty="0">
                        <a:latin typeface="Times New Roman"/>
                        <a:cs typeface="Times New Roman"/>
                      </a:endParaRPr>
                    </a:p>
                  </a:txBody>
                  <a:tcPr marL="9524" marR="9524" marT="9524" marB="9524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46973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Gap Analysis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>
          <a:xfrm>
            <a:off x="9347200" y="5989639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FF9886-9C18-37CA-D495-5A8528FD5C2A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sp>
        <p:nvSpPr>
          <p:cNvPr id="6" name=" 2081644427">
            <a:extLst>
              <a:ext uri="{FF2B5EF4-FFF2-40B4-BE49-F238E27FC236}">
                <a16:creationId xmlns:a16="http://schemas.microsoft.com/office/drawing/2014/main" id="{3CA62F34-6D39-DE3E-2F25-3B624F8FE15A}"/>
              </a:ext>
            </a:extLst>
          </p:cNvPr>
          <p:cNvSpPr/>
          <p:nvPr/>
        </p:nvSpPr>
        <p:spPr bwMode="auto">
          <a:xfrm>
            <a:off x="1154865" y="1578992"/>
            <a:ext cx="10205244" cy="3456762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17793" indent="-217793" algn="just">
              <a:lnSpc>
                <a:spcPct val="114999"/>
              </a:lnSpc>
              <a:buFont typeface="Arial"/>
              <a:buChar char="•"/>
              <a:defRPr/>
            </a:pPr>
            <a:r>
              <a:rPr sz="24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Most studies used lab-quality or </a:t>
            </a:r>
            <a:r>
              <a:rPr sz="2400" b="0" i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PlantVillage</a:t>
            </a:r>
            <a:r>
              <a:rPr sz="24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datasets, not real-field images.</a:t>
            </a:r>
            <a:endParaRPr sz="3600" b="0" dirty="0"/>
          </a:p>
          <a:p>
            <a:pPr marL="217793" indent="-217793" algn="just">
              <a:lnSpc>
                <a:spcPct val="114999"/>
              </a:lnSpc>
              <a:buFont typeface="Arial"/>
              <a:buChar char="•"/>
              <a:defRPr/>
            </a:pPr>
            <a:r>
              <a:rPr sz="24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Very limited research used Bangladesh-specific maize disease datasets.</a:t>
            </a:r>
            <a:endParaRPr sz="3600" b="0" dirty="0"/>
          </a:p>
          <a:p>
            <a:pPr marL="217793" indent="-217793" algn="just">
              <a:lnSpc>
                <a:spcPct val="114999"/>
              </a:lnSpc>
              <a:buFont typeface="Arial"/>
              <a:buChar char="•"/>
              <a:defRPr/>
            </a:pPr>
            <a:r>
              <a:rPr sz="24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Many works focused on single or 2–3 disease classes, not full multiclass classification.</a:t>
            </a:r>
            <a:endParaRPr sz="3600" b="0" dirty="0"/>
          </a:p>
          <a:p>
            <a:pPr marL="217793" indent="-217793" algn="just">
              <a:lnSpc>
                <a:spcPct val="114999"/>
              </a:lnSpc>
              <a:buFont typeface="Arial"/>
              <a:buChar char="•"/>
              <a:defRPr/>
            </a:pPr>
            <a:r>
              <a:rPr sz="24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Most studies used single CNN models, with very few ensemble or hybrid approaches.</a:t>
            </a:r>
            <a:endParaRPr sz="3600" b="0" dirty="0"/>
          </a:p>
          <a:p>
            <a:pPr marL="217793" indent="-217793" algn="just">
              <a:lnSpc>
                <a:spcPct val="114999"/>
              </a:lnSpc>
              <a:buFont typeface="Arial"/>
              <a:buChar char="•"/>
              <a:defRPr/>
            </a:pPr>
            <a:r>
              <a:rPr sz="24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Many papers did not use cross-validation, reporting only a single accuracy value.</a:t>
            </a:r>
            <a:endParaRPr sz="3600" b="0" dirty="0"/>
          </a:p>
        </p:txBody>
      </p:sp>
    </p:spTree>
    <p:extLst>
      <p:ext uri="{BB962C8B-B14F-4D97-AF65-F5344CB8AC3E}">
        <p14:creationId xmlns:p14="http://schemas.microsoft.com/office/powerpoint/2010/main" val="8256648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Methodology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>
          <a:xfrm>
            <a:off x="9356344" y="5961650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16528C-6541-3FC8-24E6-91C1C409DF59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pic>
        <p:nvPicPr>
          <p:cNvPr id="5" name="Picture 1794751756">
            <a:extLst>
              <a:ext uri="{FF2B5EF4-FFF2-40B4-BE49-F238E27FC236}">
                <a16:creationId xmlns:a16="http://schemas.microsoft.com/office/drawing/2014/main" id="{96A77EC9-F755-B03F-1ECC-32DE8A3DA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1227867" y="1143000"/>
            <a:ext cx="9645929" cy="4964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6444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E9E5C-71F2-3105-2435-0102C1334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11926-D2A5-F445-0117-A4074CC94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Result and Analysis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820640-2CE5-2763-409D-C0C0D296CBC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347200" y="5989637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0481A9-B6A6-5839-3819-C47F1F1AA0A9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graphicFrame>
        <p:nvGraphicFramePr>
          <p:cNvPr id="5" name="Table 255547859">
            <a:extLst>
              <a:ext uri="{FF2B5EF4-FFF2-40B4-BE49-F238E27FC236}">
                <a16:creationId xmlns:a16="http://schemas.microsoft.com/office/drawing/2014/main" id="{9F18AE03-924B-D03B-CEF9-1F1041F9DEE5}"/>
              </a:ext>
            </a:extLst>
          </p:cNvPr>
          <p:cNvGraphicFramePr>
            <a:graphicFrameLocks/>
          </p:cNvGraphicFramePr>
          <p:nvPr/>
        </p:nvGraphicFramePr>
        <p:xfrm>
          <a:off x="1222248" y="1685625"/>
          <a:ext cx="9674785" cy="442788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129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90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88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43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151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643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08229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b="1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Model</a:t>
                      </a:r>
                      <a:endParaRPr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b="1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Accuracy (%)</a:t>
                      </a:r>
                      <a:endParaRPr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b="1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Precision (%)</a:t>
                      </a:r>
                      <a:endParaRPr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b="1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Recall (%)</a:t>
                      </a:r>
                      <a:endParaRPr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b="1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F1-score (%)</a:t>
                      </a:r>
                      <a:endParaRPr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b="1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MCC (%)</a:t>
                      </a:r>
                      <a:endParaRPr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07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DenseNet201</a:t>
                      </a:r>
                      <a:endParaRPr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99.65</a:t>
                      </a:r>
                      <a:endParaRPr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99.65</a:t>
                      </a:r>
                      <a:endParaRPr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99.65</a:t>
                      </a:r>
                      <a:endParaRPr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99.65</a:t>
                      </a:r>
                      <a:endParaRPr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99.56</a:t>
                      </a:r>
                      <a:endParaRPr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8229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EfficientNetV2B0</a:t>
                      </a:r>
                      <a:endParaRPr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99.23</a:t>
                      </a:r>
                      <a:endParaRPr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99.20</a:t>
                      </a:r>
                      <a:endParaRPr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99.20</a:t>
                      </a:r>
                      <a:endParaRPr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99.20</a:t>
                      </a:r>
                      <a:endParaRPr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99.03</a:t>
                      </a:r>
                      <a:endParaRPr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8671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InceptionV3</a:t>
                      </a:r>
                      <a:endParaRPr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99.30</a:t>
                      </a:r>
                      <a:endParaRPr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99.30</a:t>
                      </a:r>
                      <a:endParaRPr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99.30</a:t>
                      </a:r>
                      <a:endParaRPr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99.30</a:t>
                      </a:r>
                      <a:endParaRPr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99.12</a:t>
                      </a:r>
                      <a:endParaRPr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8671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ResNet50</a:t>
                      </a:r>
                      <a:endParaRPr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98.94</a:t>
                      </a:r>
                      <a:endParaRPr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98.90</a:t>
                      </a:r>
                      <a:endParaRPr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98.90</a:t>
                      </a:r>
                      <a:endParaRPr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98.90</a:t>
                      </a:r>
                      <a:endParaRPr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98.60</a:t>
                      </a:r>
                      <a:endParaRPr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8671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Xception</a:t>
                      </a:r>
                      <a:endParaRPr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98.52</a:t>
                      </a:r>
                      <a:endParaRPr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98.50</a:t>
                      </a:r>
                      <a:endParaRPr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98.50</a:t>
                      </a:r>
                      <a:endParaRPr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98.50</a:t>
                      </a:r>
                      <a:endParaRPr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98.20</a:t>
                      </a:r>
                      <a:endParaRPr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8671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MobileNet</a:t>
                      </a:r>
                      <a:endParaRPr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98.80</a:t>
                      </a:r>
                      <a:endParaRPr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98.70</a:t>
                      </a:r>
                      <a:endParaRPr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98.70</a:t>
                      </a:r>
                      <a:endParaRPr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98.70</a:t>
                      </a:r>
                      <a:endParaRPr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98.50</a:t>
                      </a:r>
                      <a:endParaRPr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8671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MobileNetV2</a:t>
                      </a:r>
                      <a:endParaRPr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98.10</a:t>
                      </a:r>
                      <a:endParaRPr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98.10</a:t>
                      </a:r>
                      <a:endParaRPr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98.10</a:t>
                      </a:r>
                      <a:endParaRPr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98.10</a:t>
                      </a:r>
                      <a:endParaRPr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97.70</a:t>
                      </a:r>
                      <a:endParaRPr b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Box 68586011">
            <a:extLst>
              <a:ext uri="{FF2B5EF4-FFF2-40B4-BE49-F238E27FC236}">
                <a16:creationId xmlns:a16="http://schemas.microsoft.com/office/drawing/2014/main" id="{2CE92443-F2AD-6F42-AECA-C9D99B5F7E2D}"/>
              </a:ext>
            </a:extLst>
          </p:cNvPr>
          <p:cNvSpPr txBox="1"/>
          <p:nvPr/>
        </p:nvSpPr>
        <p:spPr bwMode="auto">
          <a:xfrm>
            <a:off x="764715" y="1141201"/>
            <a:ext cx="6758797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b="1" dirty="0">
                <a:latin typeface="Times New Romanm"/>
                <a:ea typeface="Times New Romanm"/>
                <a:cs typeface="Times New Romanm"/>
              </a:rPr>
              <a:t> Performance Summary of Fine Tune CNN Models</a:t>
            </a:r>
            <a:endParaRPr b="1" dirty="0">
              <a:latin typeface="Times New Romanm"/>
              <a:cs typeface="Times New Romanm"/>
            </a:endParaRPr>
          </a:p>
        </p:txBody>
      </p:sp>
    </p:spTree>
    <p:extLst>
      <p:ext uri="{BB962C8B-B14F-4D97-AF65-F5344CB8AC3E}">
        <p14:creationId xmlns:p14="http://schemas.microsoft.com/office/powerpoint/2010/main" val="16595676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19151-EE65-F867-548A-B5254C265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EC504-1BCF-FA96-37EA-488F9CF51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Result and Analysis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1A6456-7733-64E4-CE7E-587E40E8F8D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347200" y="6017676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B14FC1-F67E-8203-7D5B-416E642361A4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sp>
        <p:nvSpPr>
          <p:cNvPr id="3" name="TextBox 177298514">
            <a:extLst>
              <a:ext uri="{FF2B5EF4-FFF2-40B4-BE49-F238E27FC236}">
                <a16:creationId xmlns:a16="http://schemas.microsoft.com/office/drawing/2014/main" id="{0764EA0B-637B-549B-FAF2-6881E5945259}"/>
              </a:ext>
            </a:extLst>
          </p:cNvPr>
          <p:cNvSpPr txBox="1"/>
          <p:nvPr/>
        </p:nvSpPr>
        <p:spPr bwMode="auto">
          <a:xfrm>
            <a:off x="552620" y="1248428"/>
            <a:ext cx="6764557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b="1">
                <a:latin typeface="Times New Romanm"/>
                <a:ea typeface="Times New Romanm"/>
                <a:cs typeface="Times New Romanm"/>
              </a:rPr>
              <a:t> Performance Summary of Ensemble Model</a:t>
            </a:r>
            <a:endParaRPr b="1">
              <a:latin typeface="Times New Romanm"/>
              <a:cs typeface="Times New Romanm"/>
            </a:endParaRPr>
          </a:p>
        </p:txBody>
      </p:sp>
      <p:graphicFrame>
        <p:nvGraphicFramePr>
          <p:cNvPr id="6" name="Table 1078333039">
            <a:extLst>
              <a:ext uri="{FF2B5EF4-FFF2-40B4-BE49-F238E27FC236}">
                <a16:creationId xmlns:a16="http://schemas.microsoft.com/office/drawing/2014/main" id="{38503968-A6C6-5899-80A8-47C85281C93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15642878"/>
              </p:ext>
            </p:extLst>
          </p:nvPr>
        </p:nvGraphicFramePr>
        <p:xfrm>
          <a:off x="1066800" y="1979638"/>
          <a:ext cx="10290800" cy="36576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6725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85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94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51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43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080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b="1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Ensemble Configuration</a:t>
                      </a:r>
                      <a:endParaRPr b="1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b="1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Accuracy (%)</a:t>
                      </a:r>
                      <a:endParaRPr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b="1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Precision (%)</a:t>
                      </a:r>
                      <a:endParaRPr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b="1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Recall (%)</a:t>
                      </a:r>
                      <a:endParaRPr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b="1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F1-Score (%)</a:t>
                      </a:r>
                      <a:endParaRPr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b="1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MCC</a:t>
                      </a:r>
                      <a:r>
                        <a:rPr lang="en-US" b="1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(%)</a:t>
                      </a:r>
                      <a:endParaRPr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1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DenseNet201 + EfficientNetV2B0</a:t>
                      </a:r>
                      <a:endParaRPr b="1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98.55</a:t>
                      </a:r>
                      <a:endParaRPr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98.6</a:t>
                      </a:r>
                      <a:endParaRPr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98.6</a:t>
                      </a:r>
                      <a:endParaRPr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98.6</a:t>
                      </a:r>
                      <a:endParaRPr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98.3</a:t>
                      </a:r>
                      <a:endParaRPr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1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DenseNet201 + EfficientNetV2B0 + InceptionV3</a:t>
                      </a:r>
                      <a:endParaRPr b="1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99.30</a:t>
                      </a:r>
                      <a:endParaRPr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99.3</a:t>
                      </a:r>
                      <a:endParaRPr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99.3</a:t>
                      </a:r>
                      <a:endParaRPr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99.3</a:t>
                      </a:r>
                      <a:endParaRPr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99.1</a:t>
                      </a:r>
                      <a:endParaRPr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b="1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Xception + MobileNet + MobileNetV2 + ResNet50</a:t>
                      </a:r>
                      <a:endParaRPr b="1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99.01</a:t>
                      </a:r>
                      <a:endParaRPr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99.02</a:t>
                      </a:r>
                      <a:endParaRPr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99.01</a:t>
                      </a:r>
                      <a:endParaRPr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99.01</a:t>
                      </a:r>
                      <a:endParaRPr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98.77</a:t>
                      </a:r>
                      <a:endParaRPr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45028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19151-EE65-F867-548A-B5254C265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EC504-1BCF-FA96-37EA-488F9CF51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Result and Analysis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1A6456-7733-64E4-CE7E-587E40E8F8D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347200" y="6017676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B14FC1-F67E-8203-7D5B-416E642361A4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sp>
        <p:nvSpPr>
          <p:cNvPr id="9" name="TextBox 713497100">
            <a:extLst>
              <a:ext uri="{FF2B5EF4-FFF2-40B4-BE49-F238E27FC236}">
                <a16:creationId xmlns:a16="http://schemas.microsoft.com/office/drawing/2014/main" id="{A7DB22C4-A35E-286C-1387-CE0F5D723A7C}"/>
              </a:ext>
            </a:extLst>
          </p:cNvPr>
          <p:cNvSpPr txBox="1"/>
          <p:nvPr/>
        </p:nvSpPr>
        <p:spPr bwMode="auto">
          <a:xfrm>
            <a:off x="764715" y="1141201"/>
            <a:ext cx="6769957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b="1">
                <a:latin typeface="Times New Romanm"/>
                <a:ea typeface="Times New Romanm"/>
                <a:cs typeface="Times New Romanm"/>
              </a:rPr>
              <a:t> Performance Summary of Feature Fusion Model</a:t>
            </a:r>
            <a:endParaRPr b="1">
              <a:latin typeface="Times New Romanm"/>
              <a:cs typeface="Times New Romanm"/>
            </a:endParaRPr>
          </a:p>
        </p:txBody>
      </p:sp>
      <p:graphicFrame>
        <p:nvGraphicFramePr>
          <p:cNvPr id="10" name="Table 487708048">
            <a:extLst>
              <a:ext uri="{FF2B5EF4-FFF2-40B4-BE49-F238E27FC236}">
                <a16:creationId xmlns:a16="http://schemas.microsoft.com/office/drawing/2014/main" id="{40173325-BCED-E4A6-577F-BF59E516FB62}"/>
              </a:ext>
            </a:extLst>
          </p:cNvPr>
          <p:cNvGraphicFramePr>
            <a:graphicFrameLocks/>
          </p:cNvGraphicFramePr>
          <p:nvPr/>
        </p:nvGraphicFramePr>
        <p:xfrm>
          <a:off x="2173224" y="1803855"/>
          <a:ext cx="7654496" cy="228727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578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6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74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74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67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587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026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Model</a:t>
                      </a:r>
                      <a:endParaRPr lang="en-US" sz="14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Classes</a:t>
                      </a:r>
                      <a:endParaRPr lang="en-US" sz="14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Precision</a:t>
                      </a:r>
                      <a:endParaRPr lang="en-US" sz="14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Recall</a:t>
                      </a:r>
                      <a:endParaRPr lang="en-US" sz="14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F1-Score</a:t>
                      </a:r>
                      <a:endParaRPr lang="en-US" sz="14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Support</a:t>
                      </a:r>
                      <a:endParaRPr lang="en-US" sz="14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172">
                <a:tc rowSpan="8"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Hybrid Feature Fusion</a:t>
                      </a:r>
                      <a:endParaRPr lang="en-US" sz="14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Common_Rust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1.0000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1.0000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1.0000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283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9492">
                <a:tc vMerge="1">
                  <a:txBody>
                    <a:bodyPr/>
                    <a:lstStyle/>
                    <a:p>
                      <a:pPr algn="just">
                        <a:defRPr/>
                      </a:pPr>
                      <a:endParaRPr>
                        <a:latin typeface="Century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Corn Leaf Blight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0.9965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1.0000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0.9982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285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3350">
                <a:tc vMerge="1">
                  <a:txBody>
                    <a:bodyPr/>
                    <a:lstStyle/>
                    <a:p>
                      <a:pPr algn="just">
                        <a:defRPr/>
                      </a:pPr>
                      <a:endParaRPr>
                        <a:latin typeface="Century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Gray Leaf Spot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1.0000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0.9929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0.9965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283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8447">
                <a:tc vMerge="1">
                  <a:txBody>
                    <a:bodyPr/>
                    <a:lstStyle/>
                    <a:p>
                      <a:pPr algn="just">
                        <a:defRPr/>
                      </a:pPr>
                      <a:endParaRPr>
                        <a:latin typeface="Century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Healthy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1.0000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1.0000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1.0000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287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893">
                <a:tc vMerge="1">
                  <a:txBody>
                    <a:bodyPr/>
                    <a:lstStyle/>
                    <a:p>
                      <a:pPr algn="just">
                        <a:defRPr/>
                      </a:pPr>
                      <a:endParaRPr>
                        <a:latin typeface="Century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Maize Chlorotic Mottle Virus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0.9965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1.0000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0.9982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282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8447">
                <a:tc vMerge="1">
                  <a:txBody>
                    <a:bodyPr/>
                    <a:lstStyle/>
                    <a:p>
                      <a:pPr algn="just">
                        <a:defRPr/>
                      </a:pPr>
                      <a:endParaRPr>
                        <a:latin typeface="Century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Accuracy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0.9986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1420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3350">
                <a:tc vMerge="1">
                  <a:txBody>
                    <a:bodyPr/>
                    <a:lstStyle/>
                    <a:p>
                      <a:pPr algn="just">
                        <a:defRPr/>
                      </a:pPr>
                      <a:endParaRPr>
                        <a:latin typeface="Century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Macro Avg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0.9986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0.9986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0.9986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1420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0221">
                <a:tc vMerge="1">
                  <a:txBody>
                    <a:bodyPr/>
                    <a:lstStyle/>
                    <a:p>
                      <a:pPr algn="just">
                        <a:defRPr/>
                      </a:pPr>
                      <a:endParaRPr>
                        <a:latin typeface="Century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Weighted Avg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0.9986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0.9986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0.9986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1420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1" name="Table 3">
            <a:extLst>
              <a:ext uri="{FF2B5EF4-FFF2-40B4-BE49-F238E27FC236}">
                <a16:creationId xmlns:a16="http://schemas.microsoft.com/office/drawing/2014/main" id="{D2F011AC-14A2-2ADF-50F9-5854119372CF}"/>
              </a:ext>
            </a:extLst>
          </p:cNvPr>
          <p:cNvGraphicFramePr>
            <a:graphicFrameLocks/>
          </p:cNvGraphicFramePr>
          <p:nvPr/>
        </p:nvGraphicFramePr>
        <p:xfrm>
          <a:off x="1707365" y="4845961"/>
          <a:ext cx="8777269" cy="11887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740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29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6286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71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89473">
                <a:tc>
                  <a:txBody>
                    <a:bodyPr/>
                    <a:lstStyle/>
                    <a:p>
                      <a:pPr marL="64134" algn="ctr">
                        <a:spcBef>
                          <a:spcPts val="1199"/>
                        </a:spcBef>
                        <a:spcAft>
                          <a:spcPts val="1199"/>
                        </a:spcAft>
                        <a:defRPr/>
                      </a:pPr>
                      <a:r>
                        <a:rPr b="1">
                          <a:latin typeface="Century"/>
                        </a:rPr>
                        <a:t>Model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4134" algn="ctr">
                        <a:spcBef>
                          <a:spcPts val="1199"/>
                        </a:spcBef>
                        <a:spcAft>
                          <a:spcPts val="1199"/>
                        </a:spcAft>
                        <a:defRPr/>
                      </a:pPr>
                      <a:r>
                        <a:rPr b="1">
                          <a:latin typeface="Century"/>
                        </a:rPr>
                        <a:t>Fold-1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4134" algn="ctr">
                        <a:spcBef>
                          <a:spcPts val="1199"/>
                        </a:spcBef>
                        <a:spcAft>
                          <a:spcPts val="1199"/>
                        </a:spcAft>
                        <a:defRPr/>
                      </a:pPr>
                      <a:r>
                        <a:rPr b="1">
                          <a:latin typeface="Century"/>
                        </a:rPr>
                        <a:t>Fold-2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4134" algn="ctr">
                        <a:spcBef>
                          <a:spcPts val="1199"/>
                        </a:spcBef>
                        <a:spcAft>
                          <a:spcPts val="1199"/>
                        </a:spcAft>
                        <a:defRPr/>
                      </a:pPr>
                      <a:r>
                        <a:rPr b="1">
                          <a:latin typeface="Century"/>
                        </a:rPr>
                        <a:t>Fold-3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4134" algn="ctr">
                        <a:spcBef>
                          <a:spcPts val="1199"/>
                        </a:spcBef>
                        <a:spcAft>
                          <a:spcPts val="1199"/>
                        </a:spcAft>
                        <a:defRPr/>
                      </a:pPr>
                      <a:r>
                        <a:rPr b="1">
                          <a:latin typeface="Century"/>
                        </a:rPr>
                        <a:t>Fold-4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4134" algn="ctr">
                        <a:spcBef>
                          <a:spcPts val="1199"/>
                        </a:spcBef>
                        <a:spcAft>
                          <a:spcPts val="1199"/>
                        </a:spcAft>
                        <a:defRPr/>
                      </a:pPr>
                      <a:r>
                        <a:rPr b="1">
                          <a:latin typeface="Century"/>
                        </a:rPr>
                        <a:t>Fold-5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4134" algn="ctr">
                        <a:spcBef>
                          <a:spcPts val="1199"/>
                        </a:spcBef>
                        <a:spcAft>
                          <a:spcPts val="1199"/>
                        </a:spcAft>
                        <a:defRPr/>
                      </a:pPr>
                      <a:r>
                        <a:rPr b="1">
                          <a:latin typeface="Century"/>
                        </a:rPr>
                        <a:t>Main Model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9247">
                <a:tc>
                  <a:txBody>
                    <a:bodyPr/>
                    <a:lstStyle/>
                    <a:p>
                      <a:pPr marL="64134" algn="ctr">
                        <a:spcBef>
                          <a:spcPts val="1199"/>
                        </a:spcBef>
                        <a:spcAft>
                          <a:spcPts val="1199"/>
                        </a:spcAft>
                        <a:defRPr/>
                      </a:pPr>
                      <a:r>
                        <a:rPr>
                          <a:latin typeface="Century"/>
                        </a:rPr>
                        <a:t>Accuracy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4134" algn="ctr">
                        <a:spcBef>
                          <a:spcPts val="1199"/>
                        </a:spcBef>
                        <a:spcAft>
                          <a:spcPts val="1199"/>
                        </a:spcAft>
                        <a:defRPr/>
                      </a:pPr>
                      <a:r>
                        <a:rPr>
                          <a:latin typeface="Century"/>
                        </a:rPr>
                        <a:t>99.20%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4134" algn="ctr">
                        <a:spcBef>
                          <a:spcPts val="1199"/>
                        </a:spcBef>
                        <a:spcAft>
                          <a:spcPts val="1199"/>
                        </a:spcAft>
                        <a:defRPr/>
                      </a:pPr>
                      <a:r>
                        <a:rPr>
                          <a:latin typeface="Century"/>
                        </a:rPr>
                        <a:t>99.56%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4134" algn="ctr">
                        <a:spcBef>
                          <a:spcPts val="1199"/>
                        </a:spcBef>
                        <a:spcAft>
                          <a:spcPts val="1199"/>
                        </a:spcAft>
                        <a:defRPr/>
                      </a:pPr>
                      <a:r>
                        <a:rPr>
                          <a:latin typeface="Century"/>
                        </a:rPr>
                        <a:t>99.28%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4134" algn="ctr">
                        <a:spcBef>
                          <a:spcPts val="1199"/>
                        </a:spcBef>
                        <a:spcAft>
                          <a:spcPts val="1199"/>
                        </a:spcAft>
                        <a:defRPr/>
                      </a:pPr>
                      <a:r>
                        <a:rPr>
                          <a:latin typeface="Century"/>
                        </a:rPr>
                        <a:t>99.73%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4134" algn="ctr">
                        <a:spcBef>
                          <a:spcPts val="1199"/>
                        </a:spcBef>
                        <a:spcAft>
                          <a:spcPts val="1199"/>
                        </a:spcAft>
                        <a:defRPr/>
                      </a:pPr>
                      <a:r>
                        <a:rPr>
                          <a:latin typeface="Century"/>
                        </a:rPr>
                        <a:t>99.65%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4134" algn="ctr">
                        <a:spcBef>
                          <a:spcPts val="1199"/>
                        </a:spcBef>
                        <a:spcAft>
                          <a:spcPts val="1199"/>
                        </a:spcAft>
                        <a:defRPr/>
                      </a:pPr>
                      <a:r>
                        <a:rPr>
                          <a:latin typeface="Century"/>
                        </a:rPr>
                        <a:t>99.86%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TextBox 4">
            <a:extLst>
              <a:ext uri="{FF2B5EF4-FFF2-40B4-BE49-F238E27FC236}">
                <a16:creationId xmlns:a16="http://schemas.microsoft.com/office/drawing/2014/main" id="{D91419CE-DB50-08F6-E252-35A76FE78EDA}"/>
              </a:ext>
            </a:extLst>
          </p:cNvPr>
          <p:cNvSpPr txBox="1"/>
          <p:nvPr/>
        </p:nvSpPr>
        <p:spPr bwMode="auto">
          <a:xfrm>
            <a:off x="984503" y="4303953"/>
            <a:ext cx="3032224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marL="64134" algn="l">
              <a:spcBef>
                <a:spcPts val="1199"/>
              </a:spcBef>
              <a:spcAft>
                <a:spcPts val="1199"/>
              </a:spcAft>
              <a:defRPr/>
            </a:pPr>
            <a:r>
              <a:rPr b="1">
                <a:latin typeface="Century"/>
              </a:rPr>
              <a:t>Cross Validation Result</a:t>
            </a:r>
            <a:endParaRPr b="1"/>
          </a:p>
        </p:txBody>
      </p:sp>
    </p:spTree>
    <p:extLst>
      <p:ext uri="{BB962C8B-B14F-4D97-AF65-F5344CB8AC3E}">
        <p14:creationId xmlns:p14="http://schemas.microsoft.com/office/powerpoint/2010/main" val="26791235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19151-EE65-F867-548A-B5254C265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EC504-1BCF-FA96-37EA-488F9CF51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Result and Analysis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1A6456-7733-64E4-CE7E-587E40E8F8D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347200" y="6017676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B14FC1-F67E-8203-7D5B-416E642361A4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sp>
        <p:nvSpPr>
          <p:cNvPr id="8" name="TextBox 1958584997">
            <a:extLst>
              <a:ext uri="{FF2B5EF4-FFF2-40B4-BE49-F238E27FC236}">
                <a16:creationId xmlns:a16="http://schemas.microsoft.com/office/drawing/2014/main" id="{FCC05CE5-119A-39E0-C0D1-C8F1846B90DC}"/>
              </a:ext>
            </a:extLst>
          </p:cNvPr>
          <p:cNvSpPr txBox="1"/>
          <p:nvPr/>
        </p:nvSpPr>
        <p:spPr bwMode="auto">
          <a:xfrm>
            <a:off x="764715" y="1141201"/>
            <a:ext cx="6777517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n-US" b="1" i="0" u="none" strike="noStrike" cap="none" spc="0">
                <a:solidFill>
                  <a:schemeClr val="tx1"/>
                </a:solidFill>
                <a:latin typeface="Times New Romanm"/>
                <a:ea typeface="Times New Romanm"/>
                <a:cs typeface="Times New Romanm"/>
              </a:rPr>
              <a:t> Confusion Matrix</a:t>
            </a:r>
            <a:r>
              <a:rPr b="1">
                <a:latin typeface="Times New Romanm"/>
                <a:ea typeface="Times New Romanm"/>
                <a:cs typeface="Times New Romanm"/>
              </a:rPr>
              <a:t> of  Feature Fusion Model</a:t>
            </a:r>
            <a:endParaRPr b="1">
              <a:latin typeface="Times New Romanm"/>
              <a:cs typeface="Times New Romanm"/>
            </a:endParaRPr>
          </a:p>
        </p:txBody>
      </p:sp>
      <p:pic>
        <p:nvPicPr>
          <p:cNvPr id="13" name="Picture 203706979">
            <a:extLst>
              <a:ext uri="{FF2B5EF4-FFF2-40B4-BE49-F238E27FC236}">
                <a16:creationId xmlns:a16="http://schemas.microsoft.com/office/drawing/2014/main" id="{F73AA3BE-F23B-E0A2-204F-8C4C74F7F34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6654355" y="1743254"/>
            <a:ext cx="4719437" cy="3783042"/>
          </a:xfrm>
          <a:prstGeom prst="rect">
            <a:avLst/>
          </a:prstGeom>
        </p:spPr>
      </p:pic>
      <p:sp>
        <p:nvSpPr>
          <p:cNvPr id="14" name=" 1561686983">
            <a:extLst>
              <a:ext uri="{FF2B5EF4-FFF2-40B4-BE49-F238E27FC236}">
                <a16:creationId xmlns:a16="http://schemas.microsoft.com/office/drawing/2014/main" id="{E1C9BBEA-69BE-6630-901F-62AD28A3F230}"/>
              </a:ext>
            </a:extLst>
          </p:cNvPr>
          <p:cNvSpPr/>
          <p:nvPr/>
        </p:nvSpPr>
        <p:spPr bwMode="auto">
          <a:xfrm>
            <a:off x="522099" y="2255755"/>
            <a:ext cx="5907422" cy="14938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61850" indent="-261850" algn="just">
              <a:lnSpc>
                <a:spcPct val="114999"/>
              </a:lnSpc>
              <a:buFont typeface="Arial"/>
              <a:buChar char="•"/>
              <a:defRPr/>
            </a:pP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Confusion matrix shows near-perfect diagonal dominance.</a:t>
            </a:r>
            <a:endParaRPr sz="2200" b="0"/>
          </a:p>
          <a:p>
            <a:pPr marL="261850" indent="-261850" algn="just">
              <a:lnSpc>
                <a:spcPct val="114999"/>
              </a:lnSpc>
              <a:buFont typeface="Arial"/>
              <a:buChar char="•"/>
              <a:defRPr/>
            </a:pP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Out of 1420 samples, the model misclassified only 2 images (Gray Leaf Spot).</a:t>
            </a:r>
            <a:endParaRPr sz="2200" b="0"/>
          </a:p>
          <a:p>
            <a:pPr marL="261850" indent="-261850" algn="just">
              <a:lnSpc>
                <a:spcPct val="114999"/>
              </a:lnSpc>
              <a:buFont typeface="Arial"/>
              <a:buChar char="•"/>
              <a:defRPr/>
            </a:pP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All other four classes are predicted with 100% precision &amp; recall.</a:t>
            </a:r>
            <a:endParaRPr sz="2200" b="0"/>
          </a:p>
          <a:p>
            <a:pPr marL="261850" indent="-261850" algn="just">
              <a:lnSpc>
                <a:spcPct val="114999"/>
              </a:lnSpc>
              <a:buFont typeface="Arial"/>
              <a:buChar char="•"/>
              <a:defRPr/>
            </a:pP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Indicates exceptional robustness even on real-field images.</a:t>
            </a:r>
            <a:endParaRPr sz="2200" b="0"/>
          </a:p>
        </p:txBody>
      </p:sp>
    </p:spTree>
    <p:extLst>
      <p:ext uri="{BB962C8B-B14F-4D97-AF65-F5344CB8AC3E}">
        <p14:creationId xmlns:p14="http://schemas.microsoft.com/office/powerpoint/2010/main" val="41354236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19151-EE65-F867-548A-B5254C265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EC504-1BCF-FA96-37EA-488F9CF51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Result and Analysis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1A6456-7733-64E4-CE7E-587E40E8F8D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347200" y="6017676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B14FC1-F67E-8203-7D5B-416E642361A4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sp>
        <p:nvSpPr>
          <p:cNvPr id="3" name="TextBox 264289364">
            <a:extLst>
              <a:ext uri="{FF2B5EF4-FFF2-40B4-BE49-F238E27FC236}">
                <a16:creationId xmlns:a16="http://schemas.microsoft.com/office/drawing/2014/main" id="{808CC6A7-F2B8-3107-EB61-A4F7BF6EFEC5}"/>
              </a:ext>
            </a:extLst>
          </p:cNvPr>
          <p:cNvSpPr txBox="1"/>
          <p:nvPr/>
        </p:nvSpPr>
        <p:spPr bwMode="auto">
          <a:xfrm>
            <a:off x="695293" y="1185820"/>
            <a:ext cx="6782557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b="1">
                <a:latin typeface="Times New Romanm"/>
                <a:ea typeface="Times New Romanm"/>
                <a:cs typeface="Times New Romanm"/>
              </a:rPr>
              <a:t>Roc Curve of Feature Fusion Model</a:t>
            </a:r>
            <a:endParaRPr b="1">
              <a:latin typeface="Times New Romanm"/>
              <a:cs typeface="Times New Romanm"/>
            </a:endParaRPr>
          </a:p>
        </p:txBody>
      </p:sp>
      <p:pic>
        <p:nvPicPr>
          <p:cNvPr id="6" name="Picture 765476293">
            <a:extLst>
              <a:ext uri="{FF2B5EF4-FFF2-40B4-BE49-F238E27FC236}">
                <a16:creationId xmlns:a16="http://schemas.microsoft.com/office/drawing/2014/main" id="{54AC59C8-7A93-B021-4A85-F6E2ED25AF9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5204054" y="1604403"/>
            <a:ext cx="6308922" cy="3921583"/>
          </a:xfrm>
          <a:prstGeom prst="rect">
            <a:avLst/>
          </a:prstGeom>
        </p:spPr>
      </p:pic>
      <p:sp>
        <p:nvSpPr>
          <p:cNvPr id="7" name=" 1375918352">
            <a:extLst>
              <a:ext uri="{FF2B5EF4-FFF2-40B4-BE49-F238E27FC236}">
                <a16:creationId xmlns:a16="http://schemas.microsoft.com/office/drawing/2014/main" id="{280AEB60-E9CA-FDC7-0E92-0A14A8DAA427}"/>
              </a:ext>
            </a:extLst>
          </p:cNvPr>
          <p:cNvSpPr/>
          <p:nvPr/>
        </p:nvSpPr>
        <p:spPr bwMode="auto">
          <a:xfrm>
            <a:off x="304800" y="2165847"/>
            <a:ext cx="4409688" cy="2615544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17793" indent="-217793" algn="just">
              <a:lnSpc>
                <a:spcPct val="114999"/>
              </a:lnSpc>
              <a:buFont typeface="Arial"/>
              <a:buChar char="•"/>
              <a:defRPr/>
            </a:pP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All five classes achieved a perfect AUC score of 1.000.</a:t>
            </a:r>
            <a:endParaRPr sz="2200" b="0"/>
          </a:p>
          <a:p>
            <a:pPr marL="217793" indent="-217793" algn="just">
              <a:lnSpc>
                <a:spcPct val="114999"/>
              </a:lnSpc>
              <a:buFont typeface="Arial"/>
              <a:buChar char="•"/>
              <a:defRPr/>
            </a:pP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Curves lie far above the random classifier baseline, showing excellent discriminative ability.</a:t>
            </a:r>
            <a:endParaRPr sz="2200" b="0"/>
          </a:p>
          <a:p>
            <a:pPr marL="217793" indent="-217793" algn="just">
              <a:lnSpc>
                <a:spcPct val="114999"/>
              </a:lnSpc>
              <a:buFont typeface="Arial"/>
              <a:buChar char="•"/>
              <a:defRPr/>
            </a:pP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model confidently separates correct and incorrect classes based on probability.</a:t>
            </a:r>
            <a:endParaRPr sz="2200" b="0"/>
          </a:p>
          <a:p>
            <a:pPr marL="217793" indent="-217793" algn="just">
              <a:lnSpc>
                <a:spcPct val="114999"/>
              </a:lnSpc>
              <a:buFont typeface="Arial"/>
              <a:buChar char="•"/>
              <a:defRPr/>
            </a:pP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Indicates near-perfect ranking performance and highly reliable class prediction.</a:t>
            </a:r>
            <a:endParaRPr sz="2200" b="0"/>
          </a:p>
        </p:txBody>
      </p:sp>
    </p:spTree>
    <p:extLst>
      <p:ext uri="{BB962C8B-B14F-4D97-AF65-F5344CB8AC3E}">
        <p14:creationId xmlns:p14="http://schemas.microsoft.com/office/powerpoint/2010/main" val="30633502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19151-EE65-F867-548A-B5254C265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EC504-1BCF-FA96-37EA-488F9CF51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Result and Analysis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1A6456-7733-64E4-CE7E-587E40E8F8D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347200" y="6017676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B14FC1-F67E-8203-7D5B-416E642361A4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sp>
        <p:nvSpPr>
          <p:cNvPr id="3" name="TextBox 936693097">
            <a:extLst>
              <a:ext uri="{FF2B5EF4-FFF2-40B4-BE49-F238E27FC236}">
                <a16:creationId xmlns:a16="http://schemas.microsoft.com/office/drawing/2014/main" id="{92A24F56-B2BA-8DD7-DA90-4038E3558879}"/>
              </a:ext>
            </a:extLst>
          </p:cNvPr>
          <p:cNvSpPr txBox="1"/>
          <p:nvPr/>
        </p:nvSpPr>
        <p:spPr bwMode="auto">
          <a:xfrm>
            <a:off x="764715" y="1141201"/>
            <a:ext cx="6778597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n-US" sz="1800" b="1" i="0" u="none" strike="noStrike" cap="none" spc="0">
                <a:solidFill>
                  <a:schemeClr val="tx1"/>
                </a:solidFill>
                <a:latin typeface="Times New Romanm"/>
                <a:ea typeface="Times New Romanm"/>
                <a:cs typeface="Times New Romanm"/>
              </a:rPr>
              <a:t>Training and Validation Accuracy &amp; Loss </a:t>
            </a:r>
            <a:r>
              <a:rPr b="1">
                <a:latin typeface="Times New Romanm"/>
                <a:ea typeface="Times New Romanm"/>
                <a:cs typeface="Times New Romanm"/>
              </a:rPr>
              <a:t>of Feature Fusion Model</a:t>
            </a:r>
            <a:endParaRPr b="1">
              <a:latin typeface="Times New Romanm"/>
              <a:cs typeface="Times New Romanm"/>
            </a:endParaRPr>
          </a:p>
        </p:txBody>
      </p:sp>
      <p:pic>
        <p:nvPicPr>
          <p:cNvPr id="6" name="Picture 1320040639">
            <a:extLst>
              <a:ext uri="{FF2B5EF4-FFF2-40B4-BE49-F238E27FC236}">
                <a16:creationId xmlns:a16="http://schemas.microsoft.com/office/drawing/2014/main" id="{FB03A078-7F3D-6DB5-6EBF-2FC693785E8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1689628" y="1698324"/>
            <a:ext cx="7666795" cy="2560966"/>
          </a:xfrm>
          <a:prstGeom prst="rect">
            <a:avLst/>
          </a:prstGeom>
        </p:spPr>
      </p:pic>
      <p:sp>
        <p:nvSpPr>
          <p:cNvPr id="7" name=" 771790739">
            <a:extLst>
              <a:ext uri="{FF2B5EF4-FFF2-40B4-BE49-F238E27FC236}">
                <a16:creationId xmlns:a16="http://schemas.microsoft.com/office/drawing/2014/main" id="{3971F0A8-5AB0-3FF8-AD94-6D08BBA9EA01}"/>
              </a:ext>
            </a:extLst>
          </p:cNvPr>
          <p:cNvSpPr/>
          <p:nvPr/>
        </p:nvSpPr>
        <p:spPr bwMode="auto">
          <a:xfrm>
            <a:off x="1689628" y="4605175"/>
            <a:ext cx="9242300" cy="11890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39821" indent="-239821" algn="just">
              <a:buFont typeface="Arial"/>
              <a:buChar char="•"/>
              <a:defRPr/>
            </a:pP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Training and validation accuracy increase smoothly and converge near 100%.</a:t>
            </a:r>
            <a:endParaRPr sz="2400" b="0"/>
          </a:p>
          <a:p>
            <a:pPr marL="239821" indent="-239821" algn="just">
              <a:buFont typeface="Arial"/>
              <a:buChar char="•"/>
              <a:defRPr/>
            </a:pP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Loss decreases consistently without fluctuation, showing stable optimization.</a:t>
            </a:r>
            <a:endParaRPr sz="2400" b="0"/>
          </a:p>
          <a:p>
            <a:pPr marL="239821" indent="-239821" algn="just">
              <a:buFont typeface="Arial"/>
              <a:buChar char="•"/>
              <a:defRPr/>
            </a:pP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No gap between train and validation curves → no overfitting.</a:t>
            </a:r>
            <a:endParaRPr sz="2400" b="0"/>
          </a:p>
          <a:p>
            <a:pPr marL="239821" indent="-239821" algn="just">
              <a:buFont typeface="Arial"/>
              <a:buChar char="•"/>
              <a:defRPr/>
            </a:pP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model generalizes extremely well across field images and unseen data.</a:t>
            </a:r>
            <a:endParaRPr sz="2400" b="0"/>
          </a:p>
        </p:txBody>
      </p:sp>
    </p:spTree>
    <p:extLst>
      <p:ext uri="{BB962C8B-B14F-4D97-AF65-F5344CB8AC3E}">
        <p14:creationId xmlns:p14="http://schemas.microsoft.com/office/powerpoint/2010/main" val="26473652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A2A34-910C-52FB-12A8-FA252DB35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BF819-FC53-5253-B9E2-DE1A0CDFA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Novelty of the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154D71-E901-049B-93F8-CAD5BC299B0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347200" y="5959475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882494-1CF7-C6C6-FB3F-1E5CF30DAEEF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sp>
        <p:nvSpPr>
          <p:cNvPr id="5" name=" 689293311">
            <a:extLst>
              <a:ext uri="{FF2B5EF4-FFF2-40B4-BE49-F238E27FC236}">
                <a16:creationId xmlns:a16="http://schemas.microsoft.com/office/drawing/2014/main" id="{6E827C9A-5F3F-54A6-925F-1B193C09CD1F}"/>
              </a:ext>
            </a:extLst>
          </p:cNvPr>
          <p:cNvSpPr/>
          <p:nvPr/>
        </p:nvSpPr>
        <p:spPr bwMode="auto">
          <a:xfrm>
            <a:off x="926461" y="1473822"/>
            <a:ext cx="10480018" cy="4151702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17792" indent="-217792" algn="just">
              <a:lnSpc>
                <a:spcPct val="114999"/>
              </a:lnSpc>
              <a:buAutoNum type="arabicPeriod"/>
              <a:defRPr/>
            </a:pPr>
            <a:r>
              <a:rPr lang="en-US" sz="2400" b="1" i="0" u="none" strike="noStrike" cap="none" spc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Bangladesh-Specific Dataset Creation</a:t>
            </a:r>
            <a:endParaRPr sz="2400" dirty="0">
              <a:latin typeface="Times New Roman"/>
              <a:cs typeface="Times New Roman"/>
            </a:endParaRPr>
          </a:p>
          <a:p>
            <a:pPr marL="349965" indent="-349965" algn="just">
              <a:lnSpc>
                <a:spcPct val="114999"/>
              </a:lnSpc>
              <a:buFont typeface="Arial"/>
              <a:buChar char="•"/>
              <a:defRPr/>
            </a:pPr>
            <a:r>
              <a:rPr lang="en-US" sz="2400" b="0" i="0" u="none" strike="noStrike" cap="none" spc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Comprehensive corn leaf disease dataset from Bangladesh agricultural fields Reflects local disease patterns and environmental conditions</a:t>
            </a:r>
            <a:endParaRPr sz="2400" dirty="0">
              <a:latin typeface="Times New Roman"/>
              <a:cs typeface="Times New Roman"/>
            </a:endParaRPr>
          </a:p>
          <a:p>
            <a:pPr algn="just">
              <a:lnSpc>
                <a:spcPct val="114999"/>
              </a:lnSpc>
              <a:defRPr/>
            </a:pPr>
            <a:r>
              <a:rPr lang="en-US" sz="2400" b="1" i="0" u="none" strike="noStrike" cap="none" spc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 Systematic Architecture Comparison</a:t>
            </a:r>
            <a:endParaRPr sz="2400" dirty="0">
              <a:latin typeface="Times New Roman"/>
              <a:cs typeface="Times New Roman"/>
            </a:endParaRPr>
          </a:p>
          <a:p>
            <a:pPr marL="349965" indent="-349965" algn="just">
              <a:lnSpc>
                <a:spcPct val="114999"/>
              </a:lnSpc>
              <a:buFont typeface="Arial"/>
              <a:buChar char="•"/>
              <a:defRPr/>
            </a:pPr>
            <a:r>
              <a:rPr lang="en-US" sz="2400" b="0" i="0" u="none" strike="noStrike" cap="none" spc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Evaluated 7 CNN models + 3 ensembles on same dataset with cross validation and Provides benchmark for future research in Bangladesh</a:t>
            </a:r>
            <a:endParaRPr sz="2400" dirty="0">
              <a:latin typeface="Times New Roman"/>
              <a:cs typeface="Times New Roman"/>
            </a:endParaRPr>
          </a:p>
          <a:p>
            <a:pPr algn="just">
              <a:lnSpc>
                <a:spcPct val="114999"/>
              </a:lnSpc>
              <a:defRPr/>
            </a:pPr>
            <a:r>
              <a:rPr lang="en-US" sz="2400" b="1" i="0" u="none" strike="noStrike" cap="none" spc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 Hybrid Feature Fusion Approach</a:t>
            </a:r>
            <a:endParaRPr sz="2400" dirty="0">
              <a:latin typeface="Times New Roman"/>
              <a:cs typeface="Times New Roman"/>
            </a:endParaRPr>
          </a:p>
          <a:p>
            <a:pPr marL="349965" indent="-349965" algn="just">
              <a:lnSpc>
                <a:spcPct val="114999"/>
              </a:lnSpc>
              <a:buFont typeface="Arial"/>
              <a:buChar char="•"/>
              <a:defRPr/>
            </a:pPr>
            <a:r>
              <a:rPr lang="en-US" sz="2400" b="0" i="0" u="none" strike="noStrike" cap="none" spc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Novel combination of InceptionV3 + DenseNet201 for corn disease Achieves 99.86% accuracy with robust cross-validation</a:t>
            </a:r>
            <a:endParaRPr sz="2400" b="0" i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202743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ED34C-F2CE-1904-46F5-88AEBCFDC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8F151-7ED2-C606-99FB-D15E7A103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350838"/>
            <a:ext cx="9448800" cy="86836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Sample dataset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11460F-2BC7-EBFF-8ED1-489F5E220A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341104" y="6019800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501D11-526D-F3D4-2D04-828C5DF8BC5F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sp>
        <p:nvSpPr>
          <p:cNvPr id="5" name="TextBox 820784557">
            <a:extLst>
              <a:ext uri="{FF2B5EF4-FFF2-40B4-BE49-F238E27FC236}">
                <a16:creationId xmlns:a16="http://schemas.microsoft.com/office/drawing/2014/main" id="{C37FCC9E-2D46-6205-5869-003868F8DE83}"/>
              </a:ext>
            </a:extLst>
          </p:cNvPr>
          <p:cNvSpPr txBox="1"/>
          <p:nvPr/>
        </p:nvSpPr>
        <p:spPr bwMode="auto">
          <a:xfrm>
            <a:off x="1043278" y="1252233"/>
            <a:ext cx="10416038" cy="2296242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marL="64134" algn="l">
              <a:lnSpc>
                <a:spcPct val="150000"/>
              </a:lnSpc>
              <a:spcAft>
                <a:spcPts val="1199"/>
              </a:spcAft>
              <a:defRPr/>
            </a:pPr>
            <a:r>
              <a:rPr sz="1600" dirty="0">
                <a:latin typeface="Times New Roman"/>
                <a:ea typeface="Times New Roman"/>
                <a:cs typeface="Times New Roman"/>
              </a:rPr>
              <a:t>The “Corn Leaf Disease Detection” dataset used in this study was created expressly for this research. Images were captured in the field with a Redmi Note 12 (50 MP) smartphone during three collection sessions in March 2025 at Shahjahanpur, </a:t>
            </a:r>
            <a:r>
              <a:rPr sz="1600" dirty="0" err="1">
                <a:latin typeface="Times New Roman"/>
                <a:ea typeface="Times New Roman"/>
                <a:cs typeface="Times New Roman"/>
              </a:rPr>
              <a:t>Bogura</a:t>
            </a:r>
            <a:r>
              <a:rPr sz="1600" dirty="0">
                <a:latin typeface="Times New Roman"/>
                <a:ea typeface="Times New Roman"/>
                <a:cs typeface="Times New Roman"/>
              </a:rPr>
              <a:t> (Bangladesh). The raw set contains 1831 images, curated and labelled by plant-pathology experts to support image-based agricultural classification tasks. The dataset is organized to facilitate the identification of corn leaf diseases that most frequently threaten maize production. It is divided into six classes: Common Rust (CR), Corn Leaf Blight (CLB), Gray Leaf Spot (GLS), Healthy Leaf (HL), Maize Chlorotic Mottle Virus (MCMV).</a:t>
            </a:r>
            <a:endParaRPr sz="1600" dirty="0">
              <a:latin typeface="Times New Roman"/>
              <a:cs typeface="Times New Roman"/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F80D8876-A95B-5A4D-E32D-4B31D287CDB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6543" b="12787"/>
          <a:stretch/>
        </p:blipFill>
        <p:spPr bwMode="auto">
          <a:xfrm>
            <a:off x="3115020" y="3818985"/>
            <a:ext cx="6272555" cy="166238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929273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DEE64-196C-B3D9-C82D-1C952ED4B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13532-2D31-B35B-51FC-878A3DDEB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60908"/>
            <a:ext cx="9448800" cy="86836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Sample dataset and Expected output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D4510A-2A45-948C-55F1-C16B1F9D97C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347200" y="5961645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4740A8-B4CC-FE80-9727-34DB4B177478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pic>
        <p:nvPicPr>
          <p:cNvPr id="5" name="image1.png">
            <a:extLst>
              <a:ext uri="{FF2B5EF4-FFF2-40B4-BE49-F238E27FC236}">
                <a16:creationId xmlns:a16="http://schemas.microsoft.com/office/drawing/2014/main" id="{9588A303-9067-1497-2459-DA4CDAA67C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24000" y="1173857"/>
            <a:ext cx="8560306" cy="505961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924702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ACCF1-4663-0FAC-E557-C8C860184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B699C-3280-7E27-A53B-6B90D91AD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298" y="76200"/>
            <a:ext cx="8915400" cy="868362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Interface of Image Enhancement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521EDD-A921-29EF-524A-2EBB5538B25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347200" y="5959475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A89BB2-DBB6-BF76-BA68-3DFF2884AD82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CF1812-9DBE-FCFE-F64E-4D4FD95FEA7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1219200" y="1238907"/>
            <a:ext cx="4648200" cy="474181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03598B6-3C34-36EA-0489-79484912E7E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781800" y="1231533"/>
            <a:ext cx="4114800" cy="4898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0711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Conclusion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>
          <a:xfrm>
            <a:off x="9347200" y="5959475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B37B8D-F57A-2BA3-3A76-E3DD8C73097F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4EE366-78F6-D734-3094-32C76A6AD4C8}"/>
              </a:ext>
            </a:extLst>
          </p:cNvPr>
          <p:cNvSpPr>
            <a:spLocks noGrp="1"/>
          </p:cNvSpPr>
          <p:nvPr>
            <p:ph sz="quarter" idx="13"/>
          </p:nvPr>
        </p:nvSpPr>
        <p:spPr bwMode="auto">
          <a:xfrm>
            <a:off x="533400" y="1676400"/>
            <a:ext cx="11049000" cy="396240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 fontScale="82500" lnSpcReduction="10000"/>
          </a:bodyPr>
          <a:lstStyle/>
          <a:p>
            <a:pPr algn="just">
              <a:lnSpc>
                <a:spcPct val="114999"/>
              </a:lnSpc>
              <a:defRPr/>
            </a:pPr>
            <a:r>
              <a:rPr sz="22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goal of this research was to develop a reliable deep learning–based system capable of identifying major corn leaf diseases from images.</a:t>
            </a:r>
            <a:endParaRPr sz="9000" b="0" dirty="0"/>
          </a:p>
          <a:p>
            <a:pPr algn="just">
              <a:lnSpc>
                <a:spcPct val="114999"/>
              </a:lnSpc>
              <a:defRPr/>
            </a:pPr>
            <a:r>
              <a:rPr sz="22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 total of 1,803 real-field maize leaf images were collected from Shahjahanpur, </a:t>
            </a:r>
            <a:r>
              <a:rPr sz="2200" b="0" i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Bogura</a:t>
            </a:r>
            <a:r>
              <a:rPr sz="22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with support from local agricultural experts and plant pathology specialists.</a:t>
            </a:r>
            <a:endParaRPr sz="9000" b="0" dirty="0"/>
          </a:p>
          <a:p>
            <a:pPr algn="just">
              <a:lnSpc>
                <a:spcPct val="114999"/>
              </a:lnSpc>
              <a:defRPr/>
            </a:pPr>
            <a:r>
              <a:rPr sz="22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Extensive data augmentation was applied to expand the dataset to 7,068 images, improving model generalizability under diverse field conditions.</a:t>
            </a:r>
            <a:endParaRPr sz="9000" b="0" dirty="0"/>
          </a:p>
          <a:p>
            <a:pPr algn="just">
              <a:lnSpc>
                <a:spcPct val="114999"/>
              </a:lnSpc>
              <a:defRPr/>
            </a:pPr>
            <a:r>
              <a:rPr sz="22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Multiple high-performance CNN architectures were trained and evaluated, including DenseNet201, EfficientNetV2B0, InceptionV3, ResNet50, </a:t>
            </a:r>
            <a:r>
              <a:rPr sz="2200" b="0" i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Xception</a:t>
            </a:r>
            <a:r>
              <a:rPr sz="22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</a:t>
            </a:r>
            <a:r>
              <a:rPr sz="2200" b="0" i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MobileNet</a:t>
            </a:r>
            <a:r>
              <a:rPr sz="22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and MobileNetV2, using a GPU-enabled Kaggle environment.</a:t>
            </a:r>
            <a:endParaRPr sz="9000" b="0" dirty="0"/>
          </a:p>
          <a:p>
            <a:pPr algn="just">
              <a:lnSpc>
                <a:spcPct val="114999"/>
              </a:lnSpc>
              <a:defRPr/>
            </a:pPr>
            <a:r>
              <a:rPr sz="22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DenseNet201 achieved the best validation accuracy of 99.65%, showing strong robustness under real-field backgrounds and varying lighting conditions.</a:t>
            </a:r>
            <a:endParaRPr sz="9000" b="0" dirty="0"/>
          </a:p>
          <a:p>
            <a:pPr algn="just">
              <a:lnSpc>
                <a:spcPct val="114999"/>
              </a:lnSpc>
              <a:defRPr/>
            </a:pPr>
            <a:r>
              <a:rPr sz="22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best-performing models were exported in deployable formats for potential integration into future mobile or web-based disease diagnosis platforms.</a:t>
            </a:r>
            <a:endParaRPr sz="9000" b="0" dirty="0"/>
          </a:p>
        </p:txBody>
      </p:sp>
    </p:spTree>
    <p:extLst>
      <p:ext uri="{BB962C8B-B14F-4D97-AF65-F5344CB8AC3E}">
        <p14:creationId xmlns:p14="http://schemas.microsoft.com/office/powerpoint/2010/main" val="28737059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BAAE9-3B4C-FCEC-50FC-12FB4062A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1CA16-AE0D-D369-FE42-59C7313CB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References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7097F1-FADA-324C-E90E-73FFCAEF903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347200" y="5959475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8FB2A1-531C-6EF4-8574-EB5912211BF6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1C7AF-854C-7BEE-37FD-5F57302A6137}"/>
              </a:ext>
            </a:extLst>
          </p:cNvPr>
          <p:cNvSpPr>
            <a:spLocks noGrp="1"/>
          </p:cNvSpPr>
          <p:nvPr>
            <p:ph sz="quarter" idx="13"/>
          </p:nvPr>
        </p:nvSpPr>
        <p:spPr bwMode="auto">
          <a:xfrm>
            <a:off x="533399" y="1447799"/>
            <a:ext cx="11049000" cy="396240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 fontScale="72500" lnSpcReduction="20000"/>
          </a:bodyPr>
          <a:lstStyle/>
          <a:p>
            <a:pPr marL="490450" lvl="0" indent="-261850" algn="just">
              <a:lnSpc>
                <a:spcPct val="150000"/>
              </a:lnSpc>
              <a:spcBef>
                <a:spcPts val="1199"/>
              </a:spcBef>
              <a:spcAft>
                <a:spcPts val="0"/>
              </a:spcAft>
              <a:buFont typeface="Arial"/>
              <a:buAutoNum type="arabicPeriod"/>
              <a:defRPr/>
            </a:pPr>
            <a:r>
              <a:rPr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M. </a:t>
            </a:r>
            <a:r>
              <a:rPr sz="1800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Fraiwan</a:t>
            </a:r>
            <a:r>
              <a:rPr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, E. </a:t>
            </a:r>
            <a:r>
              <a:rPr sz="1800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Faouri</a:t>
            </a:r>
            <a:r>
              <a:rPr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, and N. </a:t>
            </a:r>
            <a:r>
              <a:rPr sz="1800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Khasawneh</a:t>
            </a:r>
            <a:r>
              <a:rPr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, “Classification of corn diseases from leaf images using deep transfer learning,” </a:t>
            </a:r>
            <a:r>
              <a:rPr sz="1800" i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Plants</a:t>
            </a:r>
            <a:r>
              <a:rPr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, vol. 11, no. 20, p. 2668, 2022.</a:t>
            </a:r>
            <a:endParaRPr sz="18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490450" lvl="0" indent="-261850" algn="just">
              <a:lnSpc>
                <a:spcPct val="150000"/>
              </a:lnSpc>
              <a:spcAft>
                <a:spcPts val="0"/>
              </a:spcAft>
              <a:buFont typeface="Arial"/>
              <a:buAutoNum type="arabicPeriod"/>
              <a:defRPr/>
            </a:pPr>
            <a:r>
              <a:rPr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E. Li, L. Wang, Q. Xie, R. Gao, Z. Su, and Y. Li, “A novel deep learning method for maize disease identification based on small sample-size and complex background datasets,” </a:t>
            </a:r>
            <a:r>
              <a:rPr sz="1800" i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Ecological Informatics</a:t>
            </a:r>
            <a:r>
              <a:rPr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, vol. 75, p. 102011, 2023.</a:t>
            </a:r>
            <a:endParaRPr dirty="0"/>
          </a:p>
          <a:p>
            <a:pPr marL="490450" lvl="0" indent="-261850" algn="just">
              <a:lnSpc>
                <a:spcPct val="150000"/>
              </a:lnSpc>
              <a:spcAft>
                <a:spcPts val="0"/>
              </a:spcAft>
              <a:buFont typeface="Arial"/>
              <a:buAutoNum type="arabicPeriod"/>
              <a:defRPr/>
            </a:pPr>
            <a:r>
              <a:rPr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Rui, W. A. N. G., Cheng, W. A. N. G., &amp; Hong-</a:t>
            </a:r>
            <a:r>
              <a:rPr sz="1800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yu</a:t>
            </a:r>
            <a:r>
              <a:rPr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, P. A. N. (2022). Intelligent diagnosis of northern corn leaf blight with deep learning model. </a:t>
            </a:r>
            <a:r>
              <a:rPr sz="1800" i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Journal of integrative agriculture</a:t>
            </a:r>
            <a:r>
              <a:rPr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, </a:t>
            </a:r>
            <a:r>
              <a:rPr sz="1800" i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21</a:t>
            </a:r>
            <a:r>
              <a:rPr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(4), 1094-1105.</a:t>
            </a:r>
            <a:endParaRPr sz="18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490450" lvl="0" indent="-261850" algn="just">
              <a:lnSpc>
                <a:spcPct val="150000"/>
              </a:lnSpc>
              <a:spcAft>
                <a:spcPts val="0"/>
              </a:spcAft>
              <a:buFont typeface="Arial"/>
              <a:buAutoNum type="arabicPeriod"/>
              <a:defRPr/>
            </a:pPr>
            <a:r>
              <a:rPr sz="1800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Divyanth</a:t>
            </a:r>
            <a:r>
              <a:rPr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, L. G., Ahmad, A., &amp; Saraswat, D. (2023). A two-stage deep-learning based segmentation model for crop disease quantification based on corn field imagery. </a:t>
            </a:r>
            <a:r>
              <a:rPr sz="1800" i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Smart Agricultural Technology</a:t>
            </a:r>
            <a:r>
              <a:rPr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, </a:t>
            </a:r>
            <a:r>
              <a:rPr sz="1800" i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3</a:t>
            </a:r>
            <a:r>
              <a:rPr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, 100108.</a:t>
            </a:r>
            <a:endParaRPr dirty="0"/>
          </a:p>
          <a:p>
            <a:pPr marL="490450" lvl="0" indent="-261850" algn="just">
              <a:lnSpc>
                <a:spcPct val="150000"/>
              </a:lnSpc>
              <a:spcAft>
                <a:spcPts val="0"/>
              </a:spcAft>
              <a:buFont typeface="Arial"/>
              <a:buAutoNum type="arabicPeriod"/>
              <a:defRPr/>
            </a:pPr>
            <a:r>
              <a:rPr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Khan, F., Zafar, N., Tahir, M. N., Aqib, M., </a:t>
            </a:r>
            <a:r>
              <a:rPr sz="1800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Waheed</a:t>
            </a:r>
            <a:r>
              <a:rPr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, H., &amp; Haroon, Z. (2023). A mobile-based system for maize plant     leaf disease detection and classification using deep learning. </a:t>
            </a:r>
            <a:r>
              <a:rPr sz="1800" i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Frontiers in Plant Science</a:t>
            </a:r>
            <a:r>
              <a:rPr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, </a:t>
            </a:r>
            <a:r>
              <a:rPr sz="1800" i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14</a:t>
            </a:r>
            <a:r>
              <a:rPr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, 1079366.</a:t>
            </a:r>
            <a:endParaRPr dirty="0"/>
          </a:p>
          <a:p>
            <a:pPr marL="490450" lvl="0" indent="-261850" algn="just">
              <a:lnSpc>
                <a:spcPct val="150000"/>
              </a:lnSpc>
              <a:spcAft>
                <a:spcPts val="0"/>
              </a:spcAft>
              <a:buFont typeface="Arial"/>
              <a:buAutoNum type="arabicPeriod"/>
              <a:defRPr/>
            </a:pPr>
            <a:r>
              <a:rPr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K. Gopalan, S. Srinivasan, M. Singh, S. K. </a:t>
            </a:r>
            <a:r>
              <a:rPr sz="1800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Mathivanan</a:t>
            </a:r>
            <a:r>
              <a:rPr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, and U. Moorthy, “Corn leaf disease diagnosis: enhancing accuracy with resnet152 and grad-cam for explainable AI,” </a:t>
            </a:r>
            <a:r>
              <a:rPr sz="1800" i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BMC Plant Biology</a:t>
            </a:r>
            <a:r>
              <a:rPr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, vol. 25, no. 1, p. 440, 2025.</a:t>
            </a:r>
            <a:endParaRPr dirty="0"/>
          </a:p>
          <a:p>
            <a:pPr marL="490450" lvl="0" indent="-261850" algn="just">
              <a:lnSpc>
                <a:spcPct val="150000"/>
              </a:lnSpc>
              <a:spcAft>
                <a:spcPts val="0"/>
              </a:spcAft>
              <a:buFont typeface="Arial"/>
              <a:buAutoNum type="arabicPeriod"/>
              <a:defRPr/>
            </a:pPr>
            <a:r>
              <a:rPr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P. </a:t>
            </a:r>
            <a:r>
              <a:rPr sz="1800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Bachhal</a:t>
            </a:r>
            <a:r>
              <a:rPr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, V. </a:t>
            </a:r>
            <a:r>
              <a:rPr sz="1800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Kukreja</a:t>
            </a:r>
            <a:r>
              <a:rPr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, S. Ahuja, U. K. </a:t>
            </a:r>
            <a:r>
              <a:rPr sz="1800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Lilhore</a:t>
            </a:r>
            <a:r>
              <a:rPr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, S. </a:t>
            </a:r>
            <a:r>
              <a:rPr sz="1800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Simaiya</a:t>
            </a:r>
            <a:r>
              <a:rPr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, A. </a:t>
            </a:r>
            <a:r>
              <a:rPr sz="1800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Bijalwan</a:t>
            </a:r>
            <a:r>
              <a:rPr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, </a:t>
            </a:r>
            <a:r>
              <a:rPr sz="1800" i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et al.</a:t>
            </a:r>
            <a:r>
              <a:rPr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, “Maize leaf disease recognition using PRF-SVM integration: a breakthrough technique,” </a:t>
            </a:r>
            <a:r>
              <a:rPr sz="1800" i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Scientific Reports</a:t>
            </a:r>
            <a:r>
              <a:rPr sz="18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, vol. 14, no. 1, p. 10219, 2024.</a:t>
            </a:r>
            <a:endParaRPr sz="1800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054695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6000" b="1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sz="60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THANK YOU</a:t>
            </a:r>
          </a:p>
          <a:p>
            <a:pPr marL="0" indent="0" algn="r">
              <a:buNone/>
            </a:pPr>
            <a:endParaRPr lang="en-US" sz="3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>
          <a:xfrm>
            <a:off x="9350248" y="5959475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BB629C-0461-0D8C-DA5C-C136AD5443E5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</p:spTree>
    <p:extLst>
      <p:ext uri="{BB962C8B-B14F-4D97-AF65-F5344CB8AC3E}">
        <p14:creationId xmlns:p14="http://schemas.microsoft.com/office/powerpoint/2010/main" val="2459516608"/>
      </p:ext>
    </p:extLst>
  </p:cSld>
  <p:clrMapOvr>
    <a:masterClrMapping/>
  </p:clrMapOvr>
</p:sld>
</file>

<file path=ppt/theme/theme1.xml><?xml version="1.0" encoding="utf-8"?>
<a:theme xmlns:a="http://schemas.openxmlformats.org/drawingml/2006/main" name="New Microsoft PowerPoint Presentatio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New Microsoft PowerPoint Presentation</Template>
  <TotalTime>1635</TotalTime>
  <Words>1785</Words>
  <Application>Microsoft Office PowerPoint</Application>
  <PresentationFormat>Widescreen</PresentationFormat>
  <Paragraphs>289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Calibri</vt:lpstr>
      <vt:lpstr>Century</vt:lpstr>
      <vt:lpstr>Times New Roman</vt:lpstr>
      <vt:lpstr>Times New Romanm</vt:lpstr>
      <vt:lpstr>Wingdings</vt:lpstr>
      <vt:lpstr>New Microsoft PowerPoint Presentation</vt:lpstr>
      <vt:lpstr>Deep Learning Based Corn Leaf Disease Classification Using CNN Architecture</vt:lpstr>
      <vt:lpstr>Outline</vt:lpstr>
      <vt:lpstr>Introduction</vt:lpstr>
      <vt:lpstr>Objective</vt:lpstr>
      <vt:lpstr>Background Study</vt:lpstr>
      <vt:lpstr>Gap Analysis</vt:lpstr>
      <vt:lpstr>Methodology</vt:lpstr>
      <vt:lpstr>Result and Analysis</vt:lpstr>
      <vt:lpstr>Result and Analysis</vt:lpstr>
      <vt:lpstr>Result and Analysis</vt:lpstr>
      <vt:lpstr>Result and Analysis</vt:lpstr>
      <vt:lpstr>Result and Analysis</vt:lpstr>
      <vt:lpstr>Result and Analysis</vt:lpstr>
      <vt:lpstr>Novelty of the Work</vt:lpstr>
      <vt:lpstr>Sample dataset</vt:lpstr>
      <vt:lpstr>Sample dataset and Expected output</vt:lpstr>
      <vt:lpstr>Web Interface of Image Enhancement</vt:lpstr>
      <vt:lpstr>Conclusion</vt:lpstr>
      <vt:lpstr>References</vt:lpstr>
      <vt:lpstr>PowerPoint Presentation</vt:lpstr>
    </vt:vector>
  </TitlesOfParts>
  <Company>Acer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Valued Acer Customer</dc:creator>
  <cp:lastModifiedBy>NURJAHAN MIM</cp:lastModifiedBy>
  <cp:revision>275</cp:revision>
  <dcterms:created xsi:type="dcterms:W3CDTF">2011-07-17T02:56:35Z</dcterms:created>
  <dcterms:modified xsi:type="dcterms:W3CDTF">2026-01-05T15:39:29Z</dcterms:modified>
</cp:coreProperties>
</file>