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59" r:id="rId1"/>
  </p:sldMasterIdLst>
  <p:notesMasterIdLst>
    <p:notesMasterId r:id="rId23"/>
  </p:notesMasterIdLst>
  <p:sldIdLst>
    <p:sldId id="256" r:id="rId2"/>
    <p:sldId id="264" r:id="rId3"/>
    <p:sldId id="280" r:id="rId4"/>
    <p:sldId id="293" r:id="rId5"/>
    <p:sldId id="296" r:id="rId6"/>
    <p:sldId id="294" r:id="rId7"/>
    <p:sldId id="297" r:id="rId8"/>
    <p:sldId id="298" r:id="rId9"/>
    <p:sldId id="306" r:id="rId10"/>
    <p:sldId id="310" r:id="rId11"/>
    <p:sldId id="309" r:id="rId12"/>
    <p:sldId id="308" r:id="rId13"/>
    <p:sldId id="312" r:id="rId14"/>
    <p:sldId id="311" r:id="rId15"/>
    <p:sldId id="300" r:id="rId16"/>
    <p:sldId id="305" r:id="rId17"/>
    <p:sldId id="304" r:id="rId18"/>
    <p:sldId id="307" r:id="rId19"/>
    <p:sldId id="291" r:id="rId20"/>
    <p:sldId id="299" r:id="rId21"/>
    <p:sldId id="295" r:id="rId22"/>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21596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p:cViewPr varScale="1">
        <p:scale>
          <a:sx n="78" d="100"/>
          <a:sy n="78" d="100"/>
        </p:scale>
        <p:origin x="869"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1/5/2026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1/5/2026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1/5/2026</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1/5/2026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400" y="1295400"/>
            <a:ext cx="10363200" cy="1752600"/>
          </a:xfrm>
        </p:spPr>
        <p:txBody>
          <a:bodyPr rtlCol="0">
            <a:normAutofit fontScale="90000"/>
          </a:bodyPr>
          <a:lstStyle/>
          <a:p>
            <a:r>
              <a:rPr lang="en-US" sz="4400" dirty="0">
                <a:solidFill>
                  <a:schemeClr val="tx1"/>
                </a:solidFill>
                <a:latin typeface="Times New Roman"/>
              </a:rPr>
              <a:t>Automated Detection and Classification of Leaf Diseases in Black Gram Using Deep Learning Techniques</a:t>
            </a:r>
            <a:endParaRPr lang="en-US" dirty="0">
              <a:solidFill>
                <a:srgbClr val="7030A0"/>
              </a:solidFill>
              <a:effectLst/>
            </a:endParaRPr>
          </a:p>
        </p:txBody>
      </p:sp>
      <p:sp>
        <p:nvSpPr>
          <p:cNvPr id="2" name="TextBox 1">
            <a:extLst>
              <a:ext uri="{FF2B5EF4-FFF2-40B4-BE49-F238E27FC236}">
                <a16:creationId xmlns:a16="http://schemas.microsoft.com/office/drawing/2014/main" id="{46FC8551-41BC-7160-AB58-5A1854853554}"/>
              </a:ext>
            </a:extLst>
          </p:cNvPr>
          <p:cNvSpPr txBox="1"/>
          <p:nvPr/>
        </p:nvSpPr>
        <p:spPr>
          <a:xfrm>
            <a:off x="8906256" y="185335"/>
            <a:ext cx="3276600" cy="369332"/>
          </a:xfrm>
          <a:prstGeom prst="rect">
            <a:avLst/>
          </a:prstGeom>
          <a:solidFill>
            <a:srgbClr val="215968"/>
          </a:solidFill>
        </p:spPr>
        <p:txBody>
          <a:bodyPr wrap="square" rtlCol="0">
            <a:spAutoFit/>
          </a:bodyPr>
          <a:lstStyle/>
          <a:p>
            <a:pPr algn="r"/>
            <a:r>
              <a:rPr lang="en-US" b="1" dirty="0">
                <a:solidFill>
                  <a:schemeClr val="bg1"/>
                </a:solidFill>
              </a:rPr>
              <a:t>B.Sc. Final-Defense</a:t>
            </a:r>
          </a:p>
        </p:txBody>
      </p:sp>
      <p:pic>
        <p:nvPicPr>
          <p:cNvPr id="5" name="Picture 4">
            <a:extLst>
              <a:ext uri="{FF2B5EF4-FFF2-40B4-BE49-F238E27FC236}">
                <a16:creationId xmlns:a16="http://schemas.microsoft.com/office/drawing/2014/main" id="{3114EF7A-D99A-35A3-7575-114FB97F4DEE}"/>
              </a:ext>
            </a:extLst>
          </p:cNvPr>
          <p:cNvPicPr>
            <a:picLocks noChangeAspect="1"/>
          </p:cNvPicPr>
          <p:nvPr/>
        </p:nvPicPr>
        <p:blipFill>
          <a:blip r:embed="rId2"/>
          <a:stretch>
            <a:fillRect/>
          </a:stretch>
        </p:blipFill>
        <p:spPr>
          <a:xfrm>
            <a:off x="685800" y="3276600"/>
            <a:ext cx="11269648" cy="34771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lnSpcReduction="10000"/>
          </a:bodyPr>
          <a:lstStyle/>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Introduction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Objective</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Background Study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Gap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Methodology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Novelty of the Work</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Web Interface </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Conclusion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a:xfrm>
            <a:off x="9296400" y="5989637"/>
            <a:ext cx="2844800" cy="365125"/>
          </a:xfrm>
        </p:spPr>
        <p:txBody>
          <a:bodyPr/>
          <a:lstStyle/>
          <a:p>
            <a:pPr>
              <a:defRPr/>
            </a:pPr>
            <a:fld id="{4CD333A3-7515-47B8-9EDC-EE0892D9C861}" type="slidenum">
              <a:rPr lang="en-US" smtClean="0"/>
              <a:pPr>
                <a:defRPr/>
              </a:pPr>
              <a:t>2</a:t>
            </a:fld>
            <a:endParaRPr lang="en-US"/>
          </a:p>
        </p:txBody>
      </p:sp>
      <p:sp>
        <p:nvSpPr>
          <p:cNvPr id="5" name="TextBox 4">
            <a:extLst>
              <a:ext uri="{FF2B5EF4-FFF2-40B4-BE49-F238E27FC236}">
                <a16:creationId xmlns:a16="http://schemas.microsoft.com/office/drawing/2014/main" id="{1174EFF0-3D03-C0F9-F0D4-A9D3482709F0}"/>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Introduction</a:t>
            </a:r>
            <a:endParaRPr lang="en-US" dirty="0">
              <a:solidFill>
                <a:srgbClr val="7030A0"/>
              </a:solidFill>
            </a:endParaRPr>
          </a:p>
        </p:txBody>
      </p:sp>
      <p:sp>
        <p:nvSpPr>
          <p:cNvPr id="4" name="Slide Number Placeholder 3"/>
          <p:cNvSpPr>
            <a:spLocks noGrp="1"/>
          </p:cNvSpPr>
          <p:nvPr>
            <p:ph type="sldNum" sz="quarter" idx="16"/>
          </p:nvPr>
        </p:nvSpPr>
        <p:spPr>
          <a:xfrm>
            <a:off x="9347200" y="6019800"/>
            <a:ext cx="2844800" cy="365125"/>
          </a:xfrm>
        </p:spPr>
        <p:txBody>
          <a:bodyPr/>
          <a:lstStyle/>
          <a:p>
            <a:pPr>
              <a:defRPr/>
            </a:pPr>
            <a:fld id="{4CD333A3-7515-47B8-9EDC-EE0892D9C861}" type="slidenum">
              <a:rPr lang="en-US" smtClean="0"/>
              <a:pPr>
                <a:defRPr/>
              </a:pPr>
              <a:t>3</a:t>
            </a:fld>
            <a:endParaRPr lang="en-US" dirty="0"/>
          </a:p>
        </p:txBody>
      </p:sp>
      <p:sp>
        <p:nvSpPr>
          <p:cNvPr id="5" name="TextBox 4">
            <a:extLst>
              <a:ext uri="{FF2B5EF4-FFF2-40B4-BE49-F238E27FC236}">
                <a16:creationId xmlns:a16="http://schemas.microsoft.com/office/drawing/2014/main" id="{301160C4-4E81-64AE-82AE-E159832FFEF8}"/>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TextBox 2">
            <a:extLst>
              <a:ext uri="{FF2B5EF4-FFF2-40B4-BE49-F238E27FC236}">
                <a16:creationId xmlns:a16="http://schemas.microsoft.com/office/drawing/2014/main" id="{38A3836E-8F2C-972B-F1A3-5B538D693CF3}"/>
              </a:ext>
            </a:extLst>
          </p:cNvPr>
          <p:cNvSpPr txBox="1"/>
          <p:nvPr/>
        </p:nvSpPr>
        <p:spPr>
          <a:xfrm>
            <a:off x="5204011" y="2528047"/>
            <a:ext cx="1828800" cy="1828800"/>
          </a:xfrm>
          <a:prstGeom prst="rect">
            <a:avLst/>
          </a:prstGeom>
          <a:noFill/>
        </p:spPr>
        <p:txBody>
          <a:bodyPr wrap="square" rtlCol="0">
            <a:spAutoFit/>
          </a:bodyPr>
          <a:lstStyle/>
          <a:p>
            <a:pPr algn="l"/>
            <a:endParaRPr lang="en-US" dirty="0"/>
          </a:p>
        </p:txBody>
      </p:sp>
      <p:sp>
        <p:nvSpPr>
          <p:cNvPr id="6" name="Content Placeholder 2">
            <a:extLst>
              <a:ext uri="{FF2B5EF4-FFF2-40B4-BE49-F238E27FC236}">
                <a16:creationId xmlns:a16="http://schemas.microsoft.com/office/drawing/2014/main" id="{54617571-6E3E-CC01-1DCE-92B336CBB85D}"/>
              </a:ext>
            </a:extLst>
          </p:cNvPr>
          <p:cNvSpPr>
            <a:spLocks noGrp="1"/>
          </p:cNvSpPr>
          <p:nvPr>
            <p:ph sz="quarter" idx="13"/>
          </p:nvPr>
        </p:nvSpPr>
        <p:spPr bwMode="auto">
          <a:xfrm>
            <a:off x="551688" y="1289304"/>
            <a:ext cx="10972800" cy="4160519"/>
          </a:xfrm>
        </p:spPr>
        <p:txBody>
          <a:bodyPr>
            <a:noAutofit/>
          </a:bodyPr>
          <a:lstStyle/>
          <a:p>
            <a:pPr marL="285750" indent="-285750" algn="just">
              <a:lnSpc>
                <a:spcPct val="150000"/>
              </a:lnSpc>
              <a:buFont typeface="Wingdings"/>
              <a:buChar char="q"/>
              <a:defRPr/>
            </a:pPr>
            <a:r>
              <a:rPr lang="en-GB" sz="1600" dirty="0">
                <a:solidFill>
                  <a:schemeClr val="tx1"/>
                </a:solidFill>
                <a:latin typeface="Times New Roman"/>
                <a:cs typeface="Times New Roman"/>
              </a:rPr>
              <a:t>Black gram is an important pulse crop in South Asia, including Bangladesh, valued for its nutritional benefits, soil fertility improvement, and economic importance. However, diseases like Yellow Mosaic Virus (YMV), </a:t>
            </a:r>
            <a:r>
              <a:rPr lang="en-GB" sz="1600" dirty="0" err="1">
                <a:solidFill>
                  <a:schemeClr val="tx1"/>
                </a:solidFill>
                <a:latin typeface="Times New Roman"/>
                <a:cs typeface="Times New Roman"/>
              </a:rPr>
              <a:t>Cercospora</a:t>
            </a:r>
            <a:r>
              <a:rPr lang="en-GB" sz="1600" dirty="0">
                <a:solidFill>
                  <a:schemeClr val="tx1"/>
                </a:solidFill>
                <a:latin typeface="Times New Roman"/>
                <a:cs typeface="Times New Roman"/>
              </a:rPr>
              <a:t> Leaf Spot, Leaf Crinkle, Anthracnose, and Powdery Mildew significantly reduce yield and quality.</a:t>
            </a:r>
            <a:endParaRPr sz="1600" dirty="0">
              <a:latin typeface="Times New Roman"/>
              <a:cs typeface="Times New Roman"/>
            </a:endParaRPr>
          </a:p>
          <a:p>
            <a:pPr marL="285750" indent="-285750" algn="just">
              <a:lnSpc>
                <a:spcPct val="150000"/>
              </a:lnSpc>
              <a:buFont typeface="Wingdings"/>
              <a:buChar char="q"/>
              <a:defRPr/>
            </a:pPr>
            <a:r>
              <a:rPr lang="en-GB" sz="1600" dirty="0">
                <a:solidFill>
                  <a:schemeClr val="tx1"/>
                </a:solidFill>
                <a:latin typeface="Times New Roman"/>
                <a:cs typeface="Times New Roman"/>
              </a:rPr>
              <a:t>Traditional detection methods rely on farmers or experts visually inspecting leaves, which is slow, subjective, and often inaccurate in real farming conditions.</a:t>
            </a:r>
            <a:endParaRPr sz="1600" dirty="0">
              <a:latin typeface="Times New Roman"/>
              <a:cs typeface="Times New Roman"/>
            </a:endParaRPr>
          </a:p>
          <a:p>
            <a:pPr marL="285750" indent="-285750" algn="just">
              <a:lnSpc>
                <a:spcPct val="150000"/>
              </a:lnSpc>
              <a:buFont typeface="Wingdings"/>
              <a:buChar char="q"/>
              <a:defRPr/>
            </a:pPr>
            <a:r>
              <a:rPr lang="en-GB" sz="1600" dirty="0">
                <a:solidFill>
                  <a:schemeClr val="tx1"/>
                </a:solidFill>
                <a:latin typeface="Times New Roman"/>
                <a:cs typeface="Times New Roman"/>
              </a:rPr>
              <a:t>Recent research shows that Deep Learning, especially Convolutional Neural Networks (CNNs), can detect plant diseases from images with high accuracy. However, many existing models are large, require high computing power, and are not suitable for rural areas with limited internet and hardware resources.</a:t>
            </a:r>
            <a:endParaRPr sz="1600" dirty="0">
              <a:latin typeface="Times New Roman"/>
              <a:cs typeface="Times New Roman"/>
            </a:endParaRPr>
          </a:p>
          <a:p>
            <a:pPr marL="285750" indent="-285750" algn="just">
              <a:lnSpc>
                <a:spcPct val="150000"/>
              </a:lnSpc>
              <a:buFont typeface="Wingdings"/>
              <a:buChar char="q"/>
              <a:defRPr/>
            </a:pPr>
            <a:r>
              <a:rPr lang="en-GB" sz="1600" dirty="0">
                <a:solidFill>
                  <a:schemeClr val="tx1"/>
                </a:solidFill>
                <a:latin typeface="Times New Roman"/>
                <a:cs typeface="Times New Roman"/>
              </a:rPr>
              <a:t>This research develops a lightweight CNN model for detecting five types of black gram leaf diseases using a custom, expert-</a:t>
            </a:r>
            <a:r>
              <a:rPr lang="en-GB" sz="1600" dirty="0" err="1">
                <a:solidFill>
                  <a:schemeClr val="tx1"/>
                </a:solidFill>
                <a:latin typeface="Times New Roman"/>
                <a:cs typeface="Times New Roman"/>
              </a:rPr>
              <a:t>labeled</a:t>
            </a:r>
            <a:r>
              <a:rPr lang="en-GB" sz="1600" dirty="0">
                <a:solidFill>
                  <a:schemeClr val="tx1"/>
                </a:solidFill>
                <a:latin typeface="Times New Roman"/>
                <a:cs typeface="Times New Roman"/>
              </a:rPr>
              <a:t> dataset collected from fields in Bangladesh. The dataset was </a:t>
            </a:r>
            <a:r>
              <a:rPr lang="en-GB" sz="1600" dirty="0" err="1">
                <a:solidFill>
                  <a:schemeClr val="tx1"/>
                </a:solidFill>
                <a:latin typeface="Times New Roman"/>
                <a:cs typeface="Times New Roman"/>
              </a:rPr>
              <a:t>preprocessed</a:t>
            </a:r>
            <a:r>
              <a:rPr lang="en-GB" sz="1600" dirty="0">
                <a:solidFill>
                  <a:schemeClr val="tx1"/>
                </a:solidFill>
                <a:latin typeface="Times New Roman"/>
                <a:cs typeface="Times New Roman"/>
              </a:rPr>
              <a:t> using resizing, CLAHE contrast enhancement, and normalization, and balanced through data augmentation.</a:t>
            </a:r>
            <a:endParaRPr sz="1600" dirty="0">
              <a:latin typeface="Times New Roman"/>
              <a:cs typeface="Times New Roman"/>
            </a:endParaRPr>
          </a:p>
        </p:txBody>
      </p:sp>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4" name="Slide Number Placeholder 3"/>
          <p:cNvSpPr>
            <a:spLocks noGrp="1"/>
          </p:cNvSpPr>
          <p:nvPr>
            <p:ph type="sldNum" sz="quarter" idx="16"/>
          </p:nvPr>
        </p:nvSpPr>
        <p:spPr>
          <a:xfrm>
            <a:off x="9350248" y="5989637"/>
            <a:ext cx="2844800" cy="365125"/>
          </a:xfrm>
        </p:spPr>
        <p:txBody>
          <a:bodyPr/>
          <a:lstStyle/>
          <a:p>
            <a:pPr>
              <a:defRPr/>
            </a:pPr>
            <a:fld id="{4CD333A3-7515-47B8-9EDC-EE0892D9C861}" type="slidenum">
              <a:rPr lang="en-US" smtClean="0"/>
              <a:pPr>
                <a:defRPr/>
              </a:pPr>
              <a:t>4</a:t>
            </a:fld>
            <a:endParaRPr lang="en-US" dirty="0"/>
          </a:p>
        </p:txBody>
      </p:sp>
      <p:sp>
        <p:nvSpPr>
          <p:cNvPr id="5" name="TextBox 4">
            <a:extLst>
              <a:ext uri="{FF2B5EF4-FFF2-40B4-BE49-F238E27FC236}">
                <a16:creationId xmlns:a16="http://schemas.microsoft.com/office/drawing/2014/main" id="{C7B064D8-8C59-7D9E-B404-8CE93061EC37}"/>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Rectangle 8">
            <a:extLst>
              <a:ext uri="{FF2B5EF4-FFF2-40B4-BE49-F238E27FC236}">
                <a16:creationId xmlns:a16="http://schemas.microsoft.com/office/drawing/2014/main" id="{B2F68DBD-B712-8899-D028-C724389E6BA3}"/>
              </a:ext>
            </a:extLst>
          </p:cNvPr>
          <p:cNvSpPr>
            <a:spLocks noGrp="1" noChangeArrowheads="1"/>
          </p:cNvSpPr>
          <p:nvPr>
            <p:ph sz="quarter" idx="13"/>
          </p:nvPr>
        </p:nvSpPr>
        <p:spPr bwMode="auto">
          <a:xfrm>
            <a:off x="688731" y="2130933"/>
            <a:ext cx="10491663" cy="288072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R="0" lvl="0" algn="just">
              <a:lnSpc>
                <a:spcPct val="150000"/>
              </a:lnSpc>
              <a:spcBef>
                <a:spcPts val="1200"/>
              </a:spcBef>
              <a:spcAft>
                <a:spcPts val="0"/>
              </a:spcAft>
              <a:buFont typeface="Wingdings"/>
              <a:buChar char="q"/>
              <a:defRPr/>
            </a:pPr>
            <a:r>
              <a:rPr lang="en-US" sz="1800" dirty="0">
                <a:solidFill>
                  <a:srgbClr val="000000"/>
                </a:solidFill>
                <a:latin typeface="Times New Roman"/>
                <a:ea typeface="Century"/>
                <a:cs typeface="Times New Roman"/>
              </a:rPr>
              <a:t>To create a quality and expert-labeled field dataset (IDBGL) of Black Gram leaf diseases.</a:t>
            </a:r>
            <a:endParaRPr lang="en-US" sz="1800" dirty="0">
              <a:latin typeface="Times New Roman"/>
              <a:ea typeface="Calibri"/>
              <a:cs typeface="Times New Roman"/>
            </a:endParaRPr>
          </a:p>
          <a:p>
            <a:pPr marR="0" lvl="0" algn="just">
              <a:lnSpc>
                <a:spcPct val="150000"/>
              </a:lnSpc>
              <a:spcBef>
                <a:spcPts val="1200"/>
              </a:spcBef>
              <a:spcAft>
                <a:spcPts val="0"/>
              </a:spcAft>
              <a:buFont typeface="Wingdings"/>
              <a:buChar char="q"/>
              <a:defRPr/>
            </a:pPr>
            <a:r>
              <a:rPr lang="en-US" sz="1800" dirty="0">
                <a:solidFill>
                  <a:srgbClr val="000000"/>
                </a:solidFill>
                <a:latin typeface="Times New Roman"/>
                <a:ea typeface="Century"/>
                <a:cs typeface="Times New Roman"/>
              </a:rPr>
              <a:t>To preprocess and augment images to enhance the model generalization in the real-life conditions.</a:t>
            </a:r>
            <a:endParaRPr lang="en-US" sz="1800" dirty="0">
              <a:latin typeface="Times New Roman"/>
              <a:ea typeface="Calibri"/>
              <a:cs typeface="Times New Roman"/>
            </a:endParaRPr>
          </a:p>
          <a:p>
            <a:pPr marR="0" lvl="0" algn="just">
              <a:lnSpc>
                <a:spcPct val="150000"/>
              </a:lnSpc>
              <a:spcBef>
                <a:spcPts val="1200"/>
              </a:spcBef>
              <a:spcAft>
                <a:spcPts val="0"/>
              </a:spcAft>
              <a:buFont typeface="Wingdings"/>
              <a:buChar char="q"/>
              <a:defRPr/>
            </a:pPr>
            <a:r>
              <a:rPr lang="en-US" sz="1800" dirty="0">
                <a:solidFill>
                  <a:srgbClr val="000000"/>
                </a:solidFill>
                <a:latin typeface="Times New Roman"/>
                <a:ea typeface="Century"/>
                <a:cs typeface="Times New Roman"/>
              </a:rPr>
              <a:t>In order to compare and train five CNN architectures with transfer learning.</a:t>
            </a:r>
            <a:endParaRPr lang="en-US" sz="1800" dirty="0">
              <a:latin typeface="Times New Roman"/>
              <a:ea typeface="Calibri"/>
              <a:cs typeface="Times New Roman"/>
            </a:endParaRPr>
          </a:p>
          <a:p>
            <a:pPr marR="0" lvl="0" algn="just">
              <a:lnSpc>
                <a:spcPct val="150000"/>
              </a:lnSpc>
              <a:spcBef>
                <a:spcPts val="1200"/>
              </a:spcBef>
              <a:spcAft>
                <a:spcPts val="0"/>
              </a:spcAft>
              <a:buFont typeface="Wingdings"/>
              <a:buChar char="q"/>
              <a:defRPr/>
            </a:pPr>
            <a:r>
              <a:rPr lang="en-US" sz="1800" dirty="0">
                <a:solidFill>
                  <a:srgbClr val="000000"/>
                </a:solidFill>
                <a:latin typeface="Times New Roman"/>
                <a:ea typeface="Century"/>
                <a:cs typeface="Times New Roman"/>
              </a:rPr>
              <a:t>To determine the performance of models based on Accuracy, Precision, Recall, F1-score, ROC-AUC, and MCC and determine the most efficient model.</a:t>
            </a:r>
            <a:endParaRPr lang="en-US" sz="1800" dirty="0">
              <a:latin typeface="Times New Roman"/>
              <a:ea typeface="Calibri"/>
              <a:cs typeface="Times New Roman"/>
            </a:endParaRPr>
          </a:p>
          <a:p>
            <a:pPr marL="0" marR="0" lvl="0" indent="0" algn="just" defTabSz="914400" rtl="0">
              <a:lnSpc>
                <a:spcPct val="100000"/>
              </a:lnSpc>
              <a:spcBef>
                <a:spcPts val="0"/>
              </a:spcBef>
              <a:spcAft>
                <a:spcPts val="0"/>
              </a:spcAft>
              <a:buClrTx/>
              <a:buSzTx/>
              <a:buNone/>
              <a:defRPr/>
            </a:pPr>
            <a:endParaRPr lang="en-US" sz="1800" b="0" i="0" u="none" strike="noStrike" cap="none" dirty="0">
              <a:ln>
                <a:noFill/>
              </a:ln>
              <a:solidFill>
                <a:schemeClr val="tx1"/>
              </a:solidFill>
              <a:latin typeface="Times New Roman"/>
              <a:cs typeface="Times New Roman"/>
            </a:endParaRPr>
          </a:p>
        </p:txBody>
      </p:sp>
    </p:spTree>
    <p:extLst>
      <p:ext uri="{BB962C8B-B14F-4D97-AF65-F5344CB8AC3E}">
        <p14:creationId xmlns:p14="http://schemas.microsoft.com/office/powerpoint/2010/main" val="825664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5</a:t>
            </a:fld>
            <a:endParaRPr lang="en-US" dirty="0"/>
          </a:p>
        </p:txBody>
      </p:sp>
      <p:sp>
        <p:nvSpPr>
          <p:cNvPr id="6" name="TextBox 5">
            <a:extLst>
              <a:ext uri="{FF2B5EF4-FFF2-40B4-BE49-F238E27FC236}">
                <a16:creationId xmlns:a16="http://schemas.microsoft.com/office/drawing/2014/main" id="{63C18772-518C-E2F8-EBA7-247295C187B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Table 1155792004">
            <a:extLst>
              <a:ext uri="{FF2B5EF4-FFF2-40B4-BE49-F238E27FC236}">
                <a16:creationId xmlns:a16="http://schemas.microsoft.com/office/drawing/2014/main" id="{02A8FFAD-A9EF-3DDA-4A69-0BAAC5794431}"/>
              </a:ext>
            </a:extLst>
          </p:cNvPr>
          <p:cNvGraphicFramePr>
            <a:graphicFrameLocks/>
          </p:cNvGraphicFramePr>
          <p:nvPr>
            <p:extLst>
              <p:ext uri="{D42A27DB-BD31-4B8C-83A1-F6EECF244321}">
                <p14:modId xmlns:p14="http://schemas.microsoft.com/office/powerpoint/2010/main" val="575756821"/>
              </p:ext>
            </p:extLst>
          </p:nvPr>
        </p:nvGraphicFramePr>
        <p:xfrm>
          <a:off x="685801" y="1295400"/>
          <a:ext cx="11049001" cy="4607962"/>
        </p:xfrm>
        <a:graphic>
          <a:graphicData uri="http://schemas.openxmlformats.org/drawingml/2006/table">
            <a:tbl>
              <a:tblPr firstRow="1" firstCol="1" bandRow="1">
                <a:tableStyleId>{B301B821-A1FF-4177-AEE7-76D212191A09}</a:tableStyleId>
              </a:tblPr>
              <a:tblGrid>
                <a:gridCol w="1919470">
                  <a:extLst>
                    <a:ext uri="{9D8B030D-6E8A-4147-A177-3AD203B41FA5}">
                      <a16:colId xmlns:a16="http://schemas.microsoft.com/office/drawing/2014/main" val="20000"/>
                    </a:ext>
                  </a:extLst>
                </a:gridCol>
                <a:gridCol w="2438680">
                  <a:extLst>
                    <a:ext uri="{9D8B030D-6E8A-4147-A177-3AD203B41FA5}">
                      <a16:colId xmlns:a16="http://schemas.microsoft.com/office/drawing/2014/main" val="20001"/>
                    </a:ext>
                  </a:extLst>
                </a:gridCol>
                <a:gridCol w="2390109">
                  <a:extLst>
                    <a:ext uri="{9D8B030D-6E8A-4147-A177-3AD203B41FA5}">
                      <a16:colId xmlns:a16="http://schemas.microsoft.com/office/drawing/2014/main" val="20002"/>
                    </a:ext>
                  </a:extLst>
                </a:gridCol>
                <a:gridCol w="4300742">
                  <a:extLst>
                    <a:ext uri="{9D8B030D-6E8A-4147-A177-3AD203B41FA5}">
                      <a16:colId xmlns:a16="http://schemas.microsoft.com/office/drawing/2014/main" val="20003"/>
                    </a:ext>
                  </a:extLst>
                </a:gridCol>
              </a:tblGrid>
              <a:tr h="507976">
                <a:tc>
                  <a:txBody>
                    <a:bodyPr/>
                    <a:lstStyle/>
                    <a:p>
                      <a:pPr>
                        <a:defRPr/>
                      </a:pPr>
                      <a:r>
                        <a:rPr lang="en-US" sz="1400">
                          <a:latin typeface="Times New Roman"/>
                          <a:cs typeface="Times New Roman"/>
                        </a:rPr>
                        <a:t>Authors (Year)</a:t>
                      </a:r>
                      <a:endParaRPr sz="2400">
                        <a:latin typeface="Times New Roman"/>
                        <a:cs typeface="Times New Roman"/>
                      </a:endParaRPr>
                    </a:p>
                  </a:txBody>
                  <a:tcPr anchor="ctr"/>
                </a:tc>
                <a:tc>
                  <a:txBody>
                    <a:bodyPr/>
                    <a:lstStyle/>
                    <a:p>
                      <a:pPr>
                        <a:defRPr/>
                      </a:pPr>
                      <a:r>
                        <a:rPr lang="en-US" sz="1400">
                          <a:latin typeface="Times New Roman"/>
                          <a:cs typeface="Times New Roman"/>
                        </a:rPr>
                        <a:t>Model Used</a:t>
                      </a:r>
                      <a:endParaRPr sz="2400">
                        <a:latin typeface="Times New Roman"/>
                        <a:cs typeface="Times New Roman"/>
                      </a:endParaRPr>
                    </a:p>
                  </a:txBody>
                  <a:tcPr anchor="ctr"/>
                </a:tc>
                <a:tc>
                  <a:txBody>
                    <a:bodyPr/>
                    <a:lstStyle/>
                    <a:p>
                      <a:pPr>
                        <a:defRPr/>
                      </a:pPr>
                      <a:r>
                        <a:rPr lang="en-US" sz="1400">
                          <a:latin typeface="Times New Roman"/>
                          <a:cs typeface="Times New Roman"/>
                        </a:rPr>
                        <a:t>Dataset</a:t>
                      </a:r>
                      <a:endParaRPr sz="2400">
                        <a:latin typeface="Times New Roman"/>
                        <a:cs typeface="Times New Roman"/>
                      </a:endParaRPr>
                    </a:p>
                  </a:txBody>
                  <a:tcPr anchor="ctr"/>
                </a:tc>
                <a:tc>
                  <a:txBody>
                    <a:bodyPr/>
                    <a:lstStyle/>
                    <a:p>
                      <a:pPr>
                        <a:defRPr/>
                      </a:pPr>
                      <a:r>
                        <a:rPr lang="en-US" sz="1400">
                          <a:latin typeface="Times New Roman"/>
                          <a:cs typeface="Times New Roman"/>
                        </a:rPr>
                        <a:t>Key Contribution </a:t>
                      </a:r>
                      <a:endParaRPr sz="2400">
                        <a:latin typeface="Times New Roman"/>
                        <a:cs typeface="Times New Roman"/>
                      </a:endParaRPr>
                    </a:p>
                  </a:txBody>
                  <a:tcPr anchor="ctr"/>
                </a:tc>
                <a:extLst>
                  <a:ext uri="{0D108BD9-81ED-4DB2-BD59-A6C34878D82A}">
                    <a16:rowId xmlns:a16="http://schemas.microsoft.com/office/drawing/2014/main" val="10000"/>
                  </a:ext>
                </a:extLst>
              </a:tr>
              <a:tr h="683331">
                <a:tc>
                  <a:txBody>
                    <a:bodyPr/>
                    <a:lstStyle/>
                    <a:p>
                      <a:pPr>
                        <a:defRPr/>
                      </a:pPr>
                      <a:r>
                        <a:rPr lang="en-US" sz="1400">
                          <a:latin typeface="Times New Roman"/>
                          <a:cs typeface="Times New Roman"/>
                        </a:rPr>
                        <a:t>Hajare &amp; Rajawat (2025)</a:t>
                      </a:r>
                      <a:endParaRPr sz="2400">
                        <a:latin typeface="Times New Roman"/>
                        <a:cs typeface="Times New Roman"/>
                      </a:endParaRPr>
                    </a:p>
                  </a:txBody>
                  <a:tcPr anchor="ctr"/>
                </a:tc>
                <a:tc>
                  <a:txBody>
                    <a:bodyPr/>
                    <a:lstStyle/>
                    <a:p>
                      <a:pPr>
                        <a:defRPr/>
                      </a:pPr>
                      <a:r>
                        <a:rPr lang="en-US" sz="1400" b="0">
                          <a:latin typeface="Times New Roman"/>
                          <a:cs typeface="Times New Roman"/>
                        </a:rPr>
                        <a:t>Ensemble (DBN + RNN + CNN) with SIDMO</a:t>
                      </a:r>
                      <a:endParaRPr sz="2400" b="0">
                        <a:latin typeface="Times New Roman"/>
                        <a:cs typeface="Times New Roman"/>
                      </a:endParaRPr>
                    </a:p>
                  </a:txBody>
                  <a:tcPr anchor="ctr"/>
                </a:tc>
                <a:tc>
                  <a:txBody>
                    <a:bodyPr/>
                    <a:lstStyle/>
                    <a:p>
                      <a:pPr>
                        <a:defRPr/>
                      </a:pPr>
                      <a:r>
                        <a:rPr lang="en-US" sz="1400" b="0">
                          <a:latin typeface="Times New Roman"/>
                          <a:cs typeface="Times New Roman"/>
                        </a:rPr>
                        <a:t>Black gram leaf images</a:t>
                      </a:r>
                      <a:endParaRPr sz="2400" b="0">
                        <a:latin typeface="Times New Roman"/>
                        <a:cs typeface="Times New Roman"/>
                      </a:endParaRPr>
                    </a:p>
                  </a:txBody>
                  <a:tcPr anchor="ctr"/>
                </a:tc>
                <a:tc>
                  <a:txBody>
                    <a:bodyPr/>
                    <a:lstStyle/>
                    <a:p>
                      <a:pPr>
                        <a:defRPr/>
                      </a:pPr>
                      <a:r>
                        <a:rPr lang="en-US" sz="1400" b="0">
                          <a:latin typeface="Times New Roman"/>
                          <a:cs typeface="Times New Roman"/>
                        </a:rPr>
                        <a:t>Achieved 94.82% accuracy; ensemble improved performance but was computationally expensive.</a:t>
                      </a:r>
                      <a:endParaRPr sz="2400" b="0">
                        <a:latin typeface="Times New Roman"/>
                        <a:cs typeface="Times New Roman"/>
                      </a:endParaRPr>
                    </a:p>
                  </a:txBody>
                  <a:tcPr anchor="ctr"/>
                </a:tc>
                <a:extLst>
                  <a:ext uri="{0D108BD9-81ED-4DB2-BD59-A6C34878D82A}">
                    <a16:rowId xmlns:a16="http://schemas.microsoft.com/office/drawing/2014/main" val="10001"/>
                  </a:ext>
                </a:extLst>
              </a:tr>
              <a:tr h="683331">
                <a:tc>
                  <a:txBody>
                    <a:bodyPr/>
                    <a:lstStyle/>
                    <a:p>
                      <a:pPr>
                        <a:defRPr/>
                      </a:pPr>
                      <a:r>
                        <a:rPr lang="en-US" sz="1400">
                          <a:latin typeface="Times New Roman"/>
                          <a:cs typeface="Times New Roman"/>
                        </a:rPr>
                        <a:t>Jyothi &amp; Prasad (2025)</a:t>
                      </a:r>
                      <a:endParaRPr sz="2400">
                        <a:latin typeface="Times New Roman"/>
                        <a:cs typeface="Times New Roman"/>
                      </a:endParaRPr>
                    </a:p>
                  </a:txBody>
                  <a:tcPr anchor="ctr"/>
                </a:tc>
                <a:tc>
                  <a:txBody>
                    <a:bodyPr/>
                    <a:lstStyle/>
                    <a:p>
                      <a:pPr>
                        <a:defRPr/>
                      </a:pPr>
                      <a:r>
                        <a:rPr lang="en-US" sz="1400" b="0">
                          <a:latin typeface="Times New Roman"/>
                          <a:cs typeface="Times New Roman"/>
                        </a:rPr>
                        <a:t>VGG + CLAHE + Watershed + DTA</a:t>
                      </a:r>
                      <a:endParaRPr sz="2400" b="0">
                        <a:latin typeface="Times New Roman"/>
                        <a:cs typeface="Times New Roman"/>
                      </a:endParaRPr>
                    </a:p>
                  </a:txBody>
                  <a:tcPr anchor="ctr"/>
                </a:tc>
                <a:tc>
                  <a:txBody>
                    <a:bodyPr/>
                    <a:lstStyle/>
                    <a:p>
                      <a:pPr>
                        <a:defRPr/>
                      </a:pPr>
                      <a:r>
                        <a:rPr lang="en-US" sz="1400" b="0">
                          <a:latin typeface="Times New Roman"/>
                          <a:cs typeface="Times New Roman"/>
                        </a:rPr>
                        <a:t>Black gram plant images</a:t>
                      </a:r>
                      <a:endParaRPr sz="2400" b="0">
                        <a:latin typeface="Times New Roman"/>
                        <a:cs typeface="Times New Roman"/>
                      </a:endParaRPr>
                    </a:p>
                  </a:txBody>
                  <a:tcPr anchor="ctr"/>
                </a:tc>
                <a:tc>
                  <a:txBody>
                    <a:bodyPr/>
                    <a:lstStyle/>
                    <a:p>
                      <a:pPr>
                        <a:defRPr/>
                      </a:pPr>
                      <a:r>
                        <a:rPr lang="en-US" sz="1400" b="0" dirty="0">
                          <a:latin typeface="Times New Roman"/>
                          <a:cs typeface="Times New Roman"/>
                        </a:rPr>
                        <a:t>Achieved 99.78% accuracy; strong feature extraction for </a:t>
                      </a:r>
                      <a:r>
                        <a:rPr lang="en-US" sz="1400" b="0" dirty="0" err="1">
                          <a:latin typeface="Times New Roman"/>
                          <a:cs typeface="Times New Roman"/>
                        </a:rPr>
                        <a:t>Cuscuta</a:t>
                      </a:r>
                      <a:r>
                        <a:rPr lang="en-US" sz="1400" b="0" dirty="0">
                          <a:latin typeface="Times New Roman"/>
                          <a:cs typeface="Times New Roman"/>
                        </a:rPr>
                        <a:t> detection.</a:t>
                      </a:r>
                      <a:endParaRPr sz="2400" b="0" dirty="0">
                        <a:latin typeface="Times New Roman"/>
                        <a:cs typeface="Times New Roman"/>
                      </a:endParaRPr>
                    </a:p>
                  </a:txBody>
                  <a:tcPr anchor="ctr"/>
                </a:tc>
                <a:extLst>
                  <a:ext uri="{0D108BD9-81ED-4DB2-BD59-A6C34878D82A}">
                    <a16:rowId xmlns:a16="http://schemas.microsoft.com/office/drawing/2014/main" val="10002"/>
                  </a:ext>
                </a:extLst>
              </a:tr>
              <a:tr h="683331">
                <a:tc>
                  <a:txBody>
                    <a:bodyPr/>
                    <a:lstStyle/>
                    <a:p>
                      <a:pPr>
                        <a:defRPr/>
                      </a:pPr>
                      <a:r>
                        <a:rPr lang="en-US" sz="1400">
                          <a:latin typeface="Times New Roman"/>
                          <a:cs typeface="Times New Roman"/>
                        </a:rPr>
                        <a:t>Talasila et al. (2025)</a:t>
                      </a:r>
                      <a:endParaRPr sz="2400">
                        <a:latin typeface="Times New Roman"/>
                        <a:cs typeface="Times New Roman"/>
                      </a:endParaRPr>
                    </a:p>
                  </a:txBody>
                  <a:tcPr anchor="ctr"/>
                </a:tc>
                <a:tc>
                  <a:txBody>
                    <a:bodyPr/>
                    <a:lstStyle/>
                    <a:p>
                      <a:pPr>
                        <a:defRPr/>
                      </a:pPr>
                      <a:r>
                        <a:rPr lang="en-US" sz="1400" b="0">
                          <a:latin typeface="Times New Roman"/>
                          <a:cs typeface="Times New Roman"/>
                        </a:rPr>
                        <a:t>DeepLabv3+ + EfficientNet-B0</a:t>
                      </a:r>
                      <a:endParaRPr sz="2400" b="0">
                        <a:latin typeface="Times New Roman"/>
                        <a:cs typeface="Times New Roman"/>
                      </a:endParaRPr>
                    </a:p>
                  </a:txBody>
                  <a:tcPr anchor="ctr"/>
                </a:tc>
                <a:tc>
                  <a:txBody>
                    <a:bodyPr/>
                    <a:lstStyle/>
                    <a:p>
                      <a:pPr>
                        <a:defRPr/>
                      </a:pPr>
                      <a:r>
                        <a:rPr lang="en-US" sz="1400" b="0">
                          <a:latin typeface="Times New Roman"/>
                          <a:cs typeface="Times New Roman"/>
                        </a:rPr>
                        <a:t>Real-field black gram images</a:t>
                      </a:r>
                      <a:endParaRPr sz="2400" b="0">
                        <a:latin typeface="Times New Roman"/>
                        <a:cs typeface="Times New Roman"/>
                      </a:endParaRPr>
                    </a:p>
                  </a:txBody>
                  <a:tcPr anchor="ctr"/>
                </a:tc>
                <a:tc>
                  <a:txBody>
                    <a:bodyPr/>
                    <a:lstStyle/>
                    <a:p>
                      <a:pPr>
                        <a:defRPr/>
                      </a:pPr>
                      <a:r>
                        <a:rPr lang="en-US" sz="1400" b="0">
                          <a:latin typeface="Times New Roman"/>
                          <a:cs typeface="Times New Roman"/>
                        </a:rPr>
                        <a:t>High segmentation and classification accuracy (99.72%); suitable for field use.</a:t>
                      </a:r>
                      <a:endParaRPr sz="2400" b="0">
                        <a:latin typeface="Times New Roman"/>
                        <a:cs typeface="Times New Roman"/>
                      </a:endParaRPr>
                    </a:p>
                  </a:txBody>
                  <a:tcPr anchor="ctr"/>
                </a:tc>
                <a:extLst>
                  <a:ext uri="{0D108BD9-81ED-4DB2-BD59-A6C34878D82A}">
                    <a16:rowId xmlns:a16="http://schemas.microsoft.com/office/drawing/2014/main" val="10003"/>
                  </a:ext>
                </a:extLst>
              </a:tr>
              <a:tr h="683331">
                <a:tc>
                  <a:txBody>
                    <a:bodyPr/>
                    <a:lstStyle/>
                    <a:p>
                      <a:pPr>
                        <a:defRPr/>
                      </a:pPr>
                      <a:r>
                        <a:rPr lang="en-US" sz="1400">
                          <a:latin typeface="Times New Roman"/>
                          <a:cs typeface="Times New Roman"/>
                        </a:rPr>
                        <a:t>Sangar &amp; Rajasekar (2025)</a:t>
                      </a:r>
                      <a:endParaRPr sz="2400">
                        <a:latin typeface="Times New Roman"/>
                        <a:cs typeface="Times New Roman"/>
                      </a:endParaRPr>
                    </a:p>
                  </a:txBody>
                  <a:tcPr anchor="ctr"/>
                </a:tc>
                <a:tc>
                  <a:txBody>
                    <a:bodyPr/>
                    <a:lstStyle/>
                    <a:p>
                      <a:pPr>
                        <a:defRPr/>
                      </a:pPr>
                      <a:r>
                        <a:rPr lang="en-US" sz="1400" b="0">
                          <a:latin typeface="Times New Roman"/>
                          <a:cs typeface="Times New Roman"/>
                        </a:rPr>
                        <a:t>Wavelet-based AttentionNet + SVM</a:t>
                      </a:r>
                      <a:endParaRPr sz="2400" b="0">
                        <a:latin typeface="Times New Roman"/>
                        <a:cs typeface="Times New Roman"/>
                      </a:endParaRPr>
                    </a:p>
                  </a:txBody>
                  <a:tcPr anchor="ctr"/>
                </a:tc>
                <a:tc>
                  <a:txBody>
                    <a:bodyPr/>
                    <a:lstStyle/>
                    <a:p>
                      <a:pPr>
                        <a:defRPr/>
                      </a:pPr>
                      <a:r>
                        <a:rPr lang="en-US" sz="1400" b="0">
                          <a:latin typeface="Times New Roman"/>
                          <a:cs typeface="Times New Roman"/>
                        </a:rPr>
                        <a:t>Black gram leaf dataset</a:t>
                      </a:r>
                      <a:endParaRPr sz="2400" b="0">
                        <a:latin typeface="Times New Roman"/>
                        <a:cs typeface="Times New Roman"/>
                      </a:endParaRPr>
                    </a:p>
                  </a:txBody>
                  <a:tcPr anchor="ctr"/>
                </a:tc>
                <a:tc>
                  <a:txBody>
                    <a:bodyPr/>
                    <a:lstStyle/>
                    <a:p>
                      <a:pPr>
                        <a:defRPr/>
                      </a:pPr>
                      <a:r>
                        <a:rPr lang="en-US" sz="1400" b="0">
                          <a:latin typeface="Times New Roman"/>
                          <a:cs typeface="Times New Roman"/>
                        </a:rPr>
                        <a:t>Achieved 99.50% accuracy; robust but computationally heavy model.</a:t>
                      </a:r>
                      <a:endParaRPr sz="2400" b="0">
                        <a:latin typeface="Times New Roman"/>
                        <a:cs typeface="Times New Roman"/>
                      </a:endParaRPr>
                    </a:p>
                  </a:txBody>
                  <a:tcPr anchor="ctr"/>
                </a:tc>
                <a:extLst>
                  <a:ext uri="{0D108BD9-81ED-4DB2-BD59-A6C34878D82A}">
                    <a16:rowId xmlns:a16="http://schemas.microsoft.com/office/drawing/2014/main" val="10004"/>
                  </a:ext>
                </a:extLst>
              </a:tr>
              <a:tr h="683331">
                <a:tc>
                  <a:txBody>
                    <a:bodyPr/>
                    <a:lstStyle/>
                    <a:p>
                      <a:pPr>
                        <a:defRPr/>
                      </a:pPr>
                      <a:r>
                        <a:rPr lang="en-US" sz="1400">
                          <a:latin typeface="Times New Roman"/>
                          <a:cs typeface="Times New Roman"/>
                        </a:rPr>
                        <a:t>Sharma &amp; Kumar (2024)</a:t>
                      </a:r>
                      <a:endParaRPr sz="2400">
                        <a:latin typeface="Times New Roman"/>
                        <a:cs typeface="Times New Roman"/>
                      </a:endParaRPr>
                    </a:p>
                  </a:txBody>
                  <a:tcPr anchor="ctr"/>
                </a:tc>
                <a:tc>
                  <a:txBody>
                    <a:bodyPr/>
                    <a:lstStyle/>
                    <a:p>
                      <a:pPr>
                        <a:defRPr/>
                      </a:pPr>
                      <a:r>
                        <a:rPr lang="en-US" sz="1400" b="0">
                          <a:latin typeface="Times New Roman"/>
                          <a:cs typeface="Times New Roman"/>
                        </a:rPr>
                        <a:t>Hybrid CNN–Transformer</a:t>
                      </a:r>
                      <a:endParaRPr sz="2400" b="0">
                        <a:latin typeface="Times New Roman"/>
                        <a:cs typeface="Times New Roman"/>
                      </a:endParaRPr>
                    </a:p>
                  </a:txBody>
                  <a:tcPr anchor="ctr"/>
                </a:tc>
                <a:tc>
                  <a:txBody>
                    <a:bodyPr/>
                    <a:lstStyle/>
                    <a:p>
                      <a:pPr>
                        <a:defRPr/>
                      </a:pPr>
                      <a:r>
                        <a:rPr lang="en-US" sz="1400" b="0">
                          <a:latin typeface="Times New Roman"/>
                          <a:cs typeface="Times New Roman"/>
                        </a:rPr>
                        <a:t>Black gram disease dataset</a:t>
                      </a:r>
                      <a:endParaRPr sz="2400" b="0">
                        <a:latin typeface="Times New Roman"/>
                        <a:cs typeface="Times New Roman"/>
                      </a:endParaRPr>
                    </a:p>
                  </a:txBody>
                  <a:tcPr anchor="ctr"/>
                </a:tc>
                <a:tc>
                  <a:txBody>
                    <a:bodyPr/>
                    <a:lstStyle/>
                    <a:p>
                      <a:pPr>
                        <a:defRPr/>
                      </a:pPr>
                      <a:r>
                        <a:rPr lang="en-US" sz="1400" b="0">
                          <a:latin typeface="Times New Roman"/>
                          <a:cs typeface="Times New Roman"/>
                        </a:rPr>
                        <a:t>Achieved 99.56% accuracy; very high performance but complex architecture.</a:t>
                      </a:r>
                      <a:endParaRPr sz="2400" b="0">
                        <a:latin typeface="Times New Roman"/>
                        <a:cs typeface="Times New Roman"/>
                      </a:endParaRPr>
                    </a:p>
                  </a:txBody>
                  <a:tcPr anchor="ctr"/>
                </a:tc>
                <a:extLst>
                  <a:ext uri="{0D108BD9-81ED-4DB2-BD59-A6C34878D82A}">
                    <a16:rowId xmlns:a16="http://schemas.microsoft.com/office/drawing/2014/main" val="10005"/>
                  </a:ext>
                </a:extLst>
              </a:tr>
              <a:tr h="683331">
                <a:tc>
                  <a:txBody>
                    <a:bodyPr/>
                    <a:lstStyle/>
                    <a:p>
                      <a:pPr>
                        <a:defRPr/>
                      </a:pPr>
                      <a:r>
                        <a:rPr lang="en-US" sz="1400">
                          <a:latin typeface="Times New Roman"/>
                          <a:cs typeface="Times New Roman"/>
                        </a:rPr>
                        <a:t>Hajare &amp; Rajawat (2025)</a:t>
                      </a:r>
                      <a:endParaRPr sz="2400">
                        <a:latin typeface="Times New Roman"/>
                        <a:cs typeface="Times New Roman"/>
                      </a:endParaRPr>
                    </a:p>
                  </a:txBody>
                  <a:tcPr anchor="ctr"/>
                </a:tc>
                <a:tc>
                  <a:txBody>
                    <a:bodyPr/>
                    <a:lstStyle/>
                    <a:p>
                      <a:pPr>
                        <a:defRPr/>
                      </a:pPr>
                      <a:r>
                        <a:rPr lang="en-US" sz="1400" b="0">
                          <a:latin typeface="Times New Roman"/>
                          <a:cs typeface="Times New Roman"/>
                        </a:rPr>
                        <a:t>Ensemble (DBN + RNN + CNN) with SIDMO</a:t>
                      </a:r>
                      <a:endParaRPr sz="2400" b="0">
                        <a:latin typeface="Times New Roman"/>
                        <a:cs typeface="Times New Roman"/>
                      </a:endParaRPr>
                    </a:p>
                  </a:txBody>
                  <a:tcPr anchor="ctr"/>
                </a:tc>
                <a:tc>
                  <a:txBody>
                    <a:bodyPr/>
                    <a:lstStyle/>
                    <a:p>
                      <a:pPr>
                        <a:defRPr/>
                      </a:pPr>
                      <a:r>
                        <a:rPr lang="en-US" sz="1400" b="0">
                          <a:latin typeface="Times New Roman"/>
                          <a:cs typeface="Times New Roman"/>
                        </a:rPr>
                        <a:t>Black gram leaf images</a:t>
                      </a:r>
                      <a:endParaRPr sz="2400" b="0">
                        <a:latin typeface="Times New Roman"/>
                        <a:cs typeface="Times New Roman"/>
                      </a:endParaRPr>
                    </a:p>
                  </a:txBody>
                  <a:tcPr anchor="ctr"/>
                </a:tc>
                <a:tc>
                  <a:txBody>
                    <a:bodyPr/>
                    <a:lstStyle/>
                    <a:p>
                      <a:pPr>
                        <a:defRPr/>
                      </a:pPr>
                      <a:r>
                        <a:rPr lang="en-US" sz="1400" b="0" dirty="0">
                          <a:latin typeface="Times New Roman"/>
                          <a:cs typeface="Times New Roman"/>
                        </a:rPr>
                        <a:t>Achieved 94.82% accuracy; ensemble improved performance but was computationally expensive.</a:t>
                      </a:r>
                      <a:endParaRPr sz="2400" b="0" dirty="0">
                        <a:latin typeface="Times New Roman"/>
                        <a:cs typeface="Times New Roman"/>
                      </a:endParaRP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146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4" name="Slide Number Placeholder 3"/>
          <p:cNvSpPr>
            <a:spLocks noGrp="1"/>
          </p:cNvSpPr>
          <p:nvPr>
            <p:ph type="sldNum" sz="quarter" idx="16"/>
          </p:nvPr>
        </p:nvSpPr>
        <p:spPr>
          <a:xfrm>
            <a:off x="9347200" y="5989639"/>
            <a:ext cx="2844800" cy="365125"/>
          </a:xfrm>
        </p:spPr>
        <p:txBody>
          <a:bodyPr/>
          <a:lstStyle/>
          <a:p>
            <a:pPr>
              <a:defRPr/>
            </a:pPr>
            <a:fld id="{4CD333A3-7515-47B8-9EDC-EE0892D9C861}" type="slidenum">
              <a:rPr lang="en-US" smtClean="0"/>
              <a:pPr>
                <a:defRPr/>
              </a:pPr>
              <a:t>6</a:t>
            </a:fld>
            <a:endParaRPr lang="en-US" dirty="0"/>
          </a:p>
        </p:txBody>
      </p:sp>
      <p:sp>
        <p:nvSpPr>
          <p:cNvPr id="3" name="TextBox 2">
            <a:extLst>
              <a:ext uri="{FF2B5EF4-FFF2-40B4-BE49-F238E27FC236}">
                <a16:creationId xmlns:a16="http://schemas.microsoft.com/office/drawing/2014/main" id="{30FF9886-9C18-37CA-D495-5A8528FD5C2A}"/>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 2081644427">
            <a:extLst>
              <a:ext uri="{FF2B5EF4-FFF2-40B4-BE49-F238E27FC236}">
                <a16:creationId xmlns:a16="http://schemas.microsoft.com/office/drawing/2014/main" id="{C93F655A-E0DB-CB62-52C2-14C1AE56175C}"/>
              </a:ext>
            </a:extLst>
          </p:cNvPr>
          <p:cNvSpPr/>
          <p:nvPr/>
        </p:nvSpPr>
        <p:spPr bwMode="auto">
          <a:xfrm>
            <a:off x="1447800" y="1371600"/>
            <a:ext cx="8948962" cy="1942224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marR="0" lvl="0" indent="-342900" algn="just" defTabSz="914400" rtl="0">
              <a:lnSpc>
                <a:spcPct val="150000"/>
              </a:lnSpc>
              <a:spcBef>
                <a:spcPts val="0"/>
              </a:spcBef>
              <a:spcAft>
                <a:spcPts val="0"/>
              </a:spcAft>
              <a:buClrTx/>
              <a:buSzTx/>
              <a:buFont typeface="Wingdings"/>
              <a:buChar char="q"/>
              <a:defRPr/>
            </a:pPr>
            <a:r>
              <a:rPr lang="en-US" sz="2000" i="0" u="none" strike="noStrike" cap="none" dirty="0">
                <a:ln>
                  <a:noFill/>
                </a:ln>
                <a:solidFill>
                  <a:schemeClr val="tx1"/>
                </a:solidFill>
                <a:latin typeface="Times New Roman"/>
                <a:cs typeface="Times New Roman"/>
              </a:rPr>
              <a:t>Models achieve high accuracy in lab datasets but fail in real-field conditions.</a:t>
            </a:r>
            <a:endParaRPr sz="2000" dirty="0">
              <a:latin typeface="Times New Roman"/>
              <a:cs typeface="Times New Roman"/>
            </a:endParaRPr>
          </a:p>
          <a:p>
            <a:pPr marL="342900" marR="0" lvl="0" indent="-342900" algn="just" defTabSz="914400" rtl="0">
              <a:lnSpc>
                <a:spcPct val="150000"/>
              </a:lnSpc>
              <a:spcBef>
                <a:spcPts val="0"/>
              </a:spcBef>
              <a:spcAft>
                <a:spcPts val="0"/>
              </a:spcAft>
              <a:buClrTx/>
              <a:buSzTx/>
              <a:buFont typeface="Wingdings"/>
              <a:buChar char="q"/>
              <a:defRPr/>
            </a:pPr>
            <a:r>
              <a:rPr lang="en-US" sz="2000" i="0" u="none" strike="noStrike" cap="none" dirty="0">
                <a:ln>
                  <a:noFill/>
                </a:ln>
                <a:solidFill>
                  <a:schemeClr val="tx1"/>
                </a:solidFill>
                <a:latin typeface="Times New Roman"/>
                <a:cs typeface="Times New Roman"/>
              </a:rPr>
              <a:t>Lack of early-stage disease and severity level detection.</a:t>
            </a:r>
          </a:p>
          <a:p>
            <a:pPr marL="342900" marR="0" lvl="0" indent="-342900" algn="just" defTabSz="914400" rtl="0">
              <a:lnSpc>
                <a:spcPct val="150000"/>
              </a:lnSpc>
              <a:spcBef>
                <a:spcPts val="0"/>
              </a:spcBef>
              <a:spcAft>
                <a:spcPts val="0"/>
              </a:spcAft>
              <a:buClrTx/>
              <a:buSzTx/>
              <a:buFont typeface="Wingdings"/>
              <a:buChar char="q"/>
              <a:defRPr/>
            </a:pPr>
            <a:r>
              <a:rPr lang="en-US" sz="2000" b="0" i="0" u="none" strike="noStrike" cap="none" spc="0" dirty="0">
                <a:ln>
                  <a:noFill/>
                </a:ln>
                <a:solidFill>
                  <a:schemeClr val="tx1"/>
                </a:solidFill>
                <a:latin typeface="Times New Roman"/>
                <a:ea typeface="Times New Roman"/>
                <a:cs typeface="Times New Roman"/>
              </a:rPr>
              <a:t>Lack of strong evaluation techniques, such as MCC, ROC-AUC, and proper cross-validation, making results less reliable.</a:t>
            </a:r>
            <a:endParaRPr sz="2000" dirty="0">
              <a:latin typeface="Times New Roman"/>
              <a:cs typeface="Times New Roman"/>
            </a:endParaRPr>
          </a:p>
          <a:p>
            <a:pPr marL="342900" marR="0" lvl="0" indent="-342900" algn="just" defTabSz="914400" rtl="0">
              <a:lnSpc>
                <a:spcPct val="150000"/>
              </a:lnSpc>
              <a:spcBef>
                <a:spcPts val="0"/>
              </a:spcBef>
              <a:spcAft>
                <a:spcPts val="0"/>
              </a:spcAft>
              <a:buClrTx/>
              <a:buSzTx/>
              <a:buFont typeface="Wingdings"/>
              <a:buChar char="q"/>
              <a:defRPr/>
            </a:pPr>
            <a:r>
              <a:rPr lang="en-US" sz="2000" i="0" u="none" strike="noStrike" cap="none" dirty="0">
                <a:ln>
                  <a:noFill/>
                </a:ln>
                <a:solidFill>
                  <a:schemeClr val="tx1"/>
                </a:solidFill>
                <a:latin typeface="Times New Roman"/>
                <a:cs typeface="Times New Roman"/>
              </a:rPr>
              <a:t>Segmentation methods struggle with low contrast or overlapping leaves.</a:t>
            </a:r>
            <a:endParaRPr sz="2000" dirty="0">
              <a:latin typeface="Times New Roman"/>
              <a:cs typeface="Times New Roman"/>
            </a:endParaRPr>
          </a:p>
          <a:p>
            <a:pPr marL="342900" marR="0" lvl="0" indent="-342900" algn="just" defTabSz="914400" rtl="0">
              <a:lnSpc>
                <a:spcPct val="150000"/>
              </a:lnSpc>
              <a:spcBef>
                <a:spcPts val="0"/>
              </a:spcBef>
              <a:spcAft>
                <a:spcPts val="0"/>
              </a:spcAft>
              <a:buClrTx/>
              <a:buSzTx/>
              <a:buFont typeface="Wingdings"/>
              <a:buChar char="q"/>
              <a:defRPr/>
            </a:pPr>
            <a:r>
              <a:rPr lang="en-US" sz="2000" i="0" u="none" strike="noStrike" cap="none" dirty="0">
                <a:ln>
                  <a:noFill/>
                </a:ln>
                <a:solidFill>
                  <a:schemeClr val="tx1"/>
                </a:solidFill>
                <a:latin typeface="Times New Roman"/>
                <a:cs typeface="Times New Roman"/>
              </a:rPr>
              <a:t>Augmentation cannot replicate true environmental diversity.</a:t>
            </a:r>
            <a:endParaRPr sz="2000" dirty="0">
              <a:latin typeface="Times New Roman"/>
              <a:cs typeface="Times New Roman"/>
            </a:endParaRPr>
          </a:p>
          <a:p>
            <a:pPr marL="342900" marR="0" lvl="0" indent="-342900" algn="just" defTabSz="914400" rtl="0">
              <a:lnSpc>
                <a:spcPct val="150000"/>
              </a:lnSpc>
              <a:spcBef>
                <a:spcPts val="0"/>
              </a:spcBef>
              <a:spcAft>
                <a:spcPts val="0"/>
              </a:spcAft>
              <a:buClrTx/>
              <a:buSzTx/>
              <a:buFont typeface="Wingdings"/>
              <a:buChar char="q"/>
              <a:defRPr/>
            </a:pPr>
            <a:r>
              <a:rPr lang="en-US" sz="2000" i="0" u="none" strike="noStrike" cap="none" dirty="0">
                <a:ln>
                  <a:noFill/>
                </a:ln>
                <a:solidFill>
                  <a:schemeClr val="tx1"/>
                </a:solidFill>
                <a:latin typeface="Times New Roman"/>
                <a:cs typeface="Times New Roman"/>
              </a:rPr>
              <a:t>Minimal integration with real-time farmer feedback or IoT systems.</a:t>
            </a:r>
            <a:endParaRPr sz="2000" dirty="0">
              <a:latin typeface="Times New Roman"/>
              <a:cs typeface="Times New Roman"/>
            </a:endParaRPr>
          </a:p>
        </p:txBody>
      </p:sp>
    </p:spTree>
    <p:extLst>
      <p:ext uri="{BB962C8B-B14F-4D97-AF65-F5344CB8AC3E}">
        <p14:creationId xmlns:p14="http://schemas.microsoft.com/office/powerpoint/2010/main" val="825664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sp>
        <p:nvSpPr>
          <p:cNvPr id="4" name="Slide Number Placeholder 3"/>
          <p:cNvSpPr>
            <a:spLocks noGrp="1"/>
          </p:cNvSpPr>
          <p:nvPr>
            <p:ph type="sldNum" sz="quarter" idx="16"/>
          </p:nvPr>
        </p:nvSpPr>
        <p:spPr>
          <a:xfrm>
            <a:off x="9356344" y="5961650"/>
            <a:ext cx="2844800" cy="365125"/>
          </a:xfrm>
        </p:spPr>
        <p:txBody>
          <a:bodyPr/>
          <a:lstStyle/>
          <a:p>
            <a:pPr>
              <a:defRPr/>
            </a:pPr>
            <a:fld id="{4CD333A3-7515-47B8-9EDC-EE0892D9C861}" type="slidenum">
              <a:rPr lang="en-US" smtClean="0"/>
              <a:pPr>
                <a:defRPr/>
              </a:pPr>
              <a:t>7</a:t>
            </a:fld>
            <a:endParaRPr lang="en-US" dirty="0"/>
          </a:p>
        </p:txBody>
      </p:sp>
      <p:sp>
        <p:nvSpPr>
          <p:cNvPr id="3" name="TextBox 2">
            <a:extLst>
              <a:ext uri="{FF2B5EF4-FFF2-40B4-BE49-F238E27FC236}">
                <a16:creationId xmlns:a16="http://schemas.microsoft.com/office/drawing/2014/main" id="{B816528C-6541-3FC8-24E6-91C1C409DF5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5" name="Picture 4">
            <a:extLst>
              <a:ext uri="{FF2B5EF4-FFF2-40B4-BE49-F238E27FC236}">
                <a16:creationId xmlns:a16="http://schemas.microsoft.com/office/drawing/2014/main" id="{459FEDBD-8B8E-E056-9064-A4663579D075}"/>
              </a:ext>
            </a:extLst>
          </p:cNvPr>
          <p:cNvPicPr>
            <a:picLocks noChangeAspect="1"/>
          </p:cNvPicPr>
          <p:nvPr/>
        </p:nvPicPr>
        <p:blipFill rotWithShape="1">
          <a:blip r:embed="rId2"/>
          <a:stretch/>
        </p:blipFill>
        <p:spPr bwMode="auto">
          <a:xfrm>
            <a:off x="504127" y="1230290"/>
            <a:ext cx="11319452" cy="4764699"/>
          </a:xfrm>
          <a:prstGeom prst="rect">
            <a:avLst/>
          </a:prstGeom>
        </p:spPr>
      </p:pic>
    </p:spTree>
    <p:extLst>
      <p:ext uri="{BB962C8B-B14F-4D97-AF65-F5344CB8AC3E}">
        <p14:creationId xmlns:p14="http://schemas.microsoft.com/office/powerpoint/2010/main" val="925644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a:xfrm>
            <a:off x="9347200" y="5989637"/>
            <a:ext cx="2844800" cy="365125"/>
          </a:xfrm>
        </p:spPr>
        <p:txBody>
          <a:bodyPr/>
          <a:lstStyle/>
          <a:p>
            <a:pPr>
              <a:defRPr/>
            </a:pPr>
            <a:fld id="{4CD333A3-7515-47B8-9EDC-EE0892D9C861}" type="slidenum">
              <a:rPr lang="en-US" smtClean="0"/>
              <a:pPr>
                <a:defRPr/>
              </a:pPr>
              <a:t>8</a:t>
            </a:fld>
            <a:endParaRPr lang="en-US" dirty="0"/>
          </a:p>
        </p:txBody>
      </p:sp>
      <p:sp>
        <p:nvSpPr>
          <p:cNvPr id="3" name="TextBox 2">
            <a:extLst>
              <a:ext uri="{FF2B5EF4-FFF2-40B4-BE49-F238E27FC236}">
                <a16:creationId xmlns:a16="http://schemas.microsoft.com/office/drawing/2014/main" id="{6B0481A9-B6A6-5839-3819-C47F1F1AA0A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5" name="Table 732378647">
            <a:extLst>
              <a:ext uri="{FF2B5EF4-FFF2-40B4-BE49-F238E27FC236}">
                <a16:creationId xmlns:a16="http://schemas.microsoft.com/office/drawing/2014/main" id="{633D0CBA-3B17-8C97-28FF-887BDC33EF69}"/>
              </a:ext>
            </a:extLst>
          </p:cNvPr>
          <p:cNvGraphicFramePr>
            <a:graphicFrameLocks/>
          </p:cNvGraphicFramePr>
          <p:nvPr/>
        </p:nvGraphicFramePr>
        <p:xfrm>
          <a:off x="1726202" y="1695378"/>
          <a:ext cx="9362417" cy="4306786"/>
        </p:xfrm>
        <a:graphic>
          <a:graphicData uri="http://schemas.openxmlformats.org/drawingml/2006/table">
            <a:tbl>
              <a:tblPr firstRow="1" firstCol="1" bandRow="1">
                <a:tableStyleId>{5C22544A-7EE6-4342-B048-85BDC9FD1C3A}</a:tableStyleId>
              </a:tblPr>
              <a:tblGrid>
                <a:gridCol w="2034095">
                  <a:extLst>
                    <a:ext uri="{9D8B030D-6E8A-4147-A177-3AD203B41FA5}">
                      <a16:colId xmlns:a16="http://schemas.microsoft.com/office/drawing/2014/main" val="20000"/>
                    </a:ext>
                  </a:extLst>
                </a:gridCol>
                <a:gridCol w="1299502">
                  <a:extLst>
                    <a:ext uri="{9D8B030D-6E8A-4147-A177-3AD203B41FA5}">
                      <a16:colId xmlns:a16="http://schemas.microsoft.com/office/drawing/2014/main" val="20001"/>
                    </a:ext>
                  </a:extLst>
                </a:gridCol>
                <a:gridCol w="1341922">
                  <a:extLst>
                    <a:ext uri="{9D8B030D-6E8A-4147-A177-3AD203B41FA5}">
                      <a16:colId xmlns:a16="http://schemas.microsoft.com/office/drawing/2014/main" val="20002"/>
                    </a:ext>
                  </a:extLst>
                </a:gridCol>
                <a:gridCol w="1170172">
                  <a:extLst>
                    <a:ext uri="{9D8B030D-6E8A-4147-A177-3AD203B41FA5}">
                      <a16:colId xmlns:a16="http://schemas.microsoft.com/office/drawing/2014/main" val="20003"/>
                    </a:ext>
                  </a:extLst>
                </a:gridCol>
                <a:gridCol w="1173277">
                  <a:extLst>
                    <a:ext uri="{9D8B030D-6E8A-4147-A177-3AD203B41FA5}">
                      <a16:colId xmlns:a16="http://schemas.microsoft.com/office/drawing/2014/main" val="20004"/>
                    </a:ext>
                  </a:extLst>
                </a:gridCol>
                <a:gridCol w="1174311">
                  <a:extLst>
                    <a:ext uri="{9D8B030D-6E8A-4147-A177-3AD203B41FA5}">
                      <a16:colId xmlns:a16="http://schemas.microsoft.com/office/drawing/2014/main" val="20005"/>
                    </a:ext>
                  </a:extLst>
                </a:gridCol>
                <a:gridCol w="1169138">
                  <a:extLst>
                    <a:ext uri="{9D8B030D-6E8A-4147-A177-3AD203B41FA5}">
                      <a16:colId xmlns:a16="http://schemas.microsoft.com/office/drawing/2014/main" val="20006"/>
                    </a:ext>
                  </a:extLst>
                </a:gridCol>
              </a:tblGrid>
              <a:tr h="885844">
                <a:tc>
                  <a:txBody>
                    <a:bodyPr/>
                    <a:lstStyle/>
                    <a:p>
                      <a:pPr algn="just">
                        <a:lnSpc>
                          <a:spcPct val="114999"/>
                        </a:lnSpc>
                        <a:defRPr/>
                      </a:pPr>
                      <a:r>
                        <a:rPr b="0">
                          <a:solidFill>
                            <a:schemeClr val="bg1"/>
                          </a:solidFill>
                          <a:latin typeface="Times New Roman"/>
                          <a:ea typeface="Century"/>
                          <a:cs typeface="Times New Roman"/>
                        </a:rPr>
                        <a:t>Model</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Accuracy (%)</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Precision (Macro)</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Recall (Macro)</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F1-score (Macro)</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ROC-AUC (Macro)</a:t>
                      </a:r>
                      <a:endParaRPr b="0">
                        <a:solidFill>
                          <a:schemeClr val="bg1"/>
                        </a:solidFill>
                        <a:latin typeface="Times New Roman"/>
                        <a:cs typeface="Times New Roman"/>
                      </a:endParaRPr>
                    </a:p>
                  </a:txBody>
                  <a:tcPr/>
                </a:tc>
                <a:tc>
                  <a:txBody>
                    <a:bodyPr/>
                    <a:lstStyle/>
                    <a:p>
                      <a:pPr algn="just">
                        <a:lnSpc>
                          <a:spcPct val="114999"/>
                        </a:lnSpc>
                        <a:defRPr/>
                      </a:pPr>
                      <a:r>
                        <a:rPr b="0">
                          <a:solidFill>
                            <a:schemeClr val="bg1"/>
                          </a:solidFill>
                          <a:latin typeface="Times New Roman"/>
                          <a:ea typeface="Century"/>
                          <a:cs typeface="Times New Roman"/>
                        </a:rPr>
                        <a:t>MCC (Macro)</a:t>
                      </a:r>
                      <a:endParaRPr b="0">
                        <a:solidFill>
                          <a:schemeClr val="bg1"/>
                        </a:solidFill>
                        <a:latin typeface="Times New Roman"/>
                        <a:cs typeface="Times New Roman"/>
                      </a:endParaRPr>
                    </a:p>
                  </a:txBody>
                  <a:tcPr/>
                </a:tc>
                <a:extLst>
                  <a:ext uri="{0D108BD9-81ED-4DB2-BD59-A6C34878D82A}">
                    <a16:rowId xmlns:a16="http://schemas.microsoft.com/office/drawing/2014/main" val="10000"/>
                  </a:ext>
                </a:extLst>
              </a:tr>
              <a:tr h="676931">
                <a:tc>
                  <a:txBody>
                    <a:bodyPr/>
                    <a:lstStyle/>
                    <a:p>
                      <a:pPr algn="just">
                        <a:lnSpc>
                          <a:spcPct val="114999"/>
                        </a:lnSpc>
                        <a:defRPr/>
                      </a:pPr>
                      <a:r>
                        <a:rPr>
                          <a:solidFill>
                            <a:schemeClr val="bg1"/>
                          </a:solidFill>
                          <a:latin typeface="Times New Roman"/>
                          <a:ea typeface="Times New Roman"/>
                          <a:cs typeface="Times New Roman"/>
                        </a:rPr>
                        <a:t>MobileNetV2</a:t>
                      </a:r>
                      <a:endParaRPr/>
                    </a:p>
                  </a:txBody>
                  <a:tcPr/>
                </a:tc>
                <a:tc>
                  <a:txBody>
                    <a:bodyPr/>
                    <a:lstStyle/>
                    <a:p>
                      <a:pPr algn="just">
                        <a:lnSpc>
                          <a:spcPct val="114999"/>
                        </a:lnSpc>
                        <a:defRPr/>
                      </a:pPr>
                      <a:r>
                        <a:rPr>
                          <a:solidFill>
                            <a:schemeClr val="tx1"/>
                          </a:solidFill>
                          <a:latin typeface="Times New Roman"/>
                          <a:ea typeface="Times New Roman"/>
                          <a:cs typeface="Times New Roman"/>
                        </a:rPr>
                        <a:t>98.88</a:t>
                      </a:r>
                      <a:endParaRPr/>
                    </a:p>
                  </a:txBody>
                  <a:tcPr/>
                </a:tc>
                <a:tc>
                  <a:txBody>
                    <a:bodyPr/>
                    <a:lstStyle/>
                    <a:p>
                      <a:pPr algn="just">
                        <a:lnSpc>
                          <a:spcPct val="114999"/>
                        </a:lnSpc>
                        <a:defRPr/>
                      </a:pPr>
                      <a:r>
                        <a:rPr>
                          <a:solidFill>
                            <a:schemeClr val="tx1"/>
                          </a:solidFill>
                          <a:latin typeface="Times New Roman"/>
                          <a:ea typeface="Times New Roman"/>
                          <a:cs typeface="Times New Roman"/>
                        </a:rPr>
                        <a:t>0.9889</a:t>
                      </a:r>
                      <a:endParaRPr/>
                    </a:p>
                  </a:txBody>
                  <a:tcPr/>
                </a:tc>
                <a:tc>
                  <a:txBody>
                    <a:bodyPr/>
                    <a:lstStyle/>
                    <a:p>
                      <a:pPr algn="just">
                        <a:lnSpc>
                          <a:spcPct val="114999"/>
                        </a:lnSpc>
                        <a:defRPr/>
                      </a:pPr>
                      <a:r>
                        <a:rPr>
                          <a:solidFill>
                            <a:schemeClr val="tx1"/>
                          </a:solidFill>
                          <a:latin typeface="Times New Roman"/>
                          <a:ea typeface="Times New Roman"/>
                          <a:cs typeface="Times New Roman"/>
                        </a:rPr>
                        <a:t>0.9888</a:t>
                      </a:r>
                      <a:endParaRPr/>
                    </a:p>
                  </a:txBody>
                  <a:tcPr/>
                </a:tc>
                <a:tc>
                  <a:txBody>
                    <a:bodyPr/>
                    <a:lstStyle/>
                    <a:p>
                      <a:pPr algn="just">
                        <a:lnSpc>
                          <a:spcPct val="114999"/>
                        </a:lnSpc>
                        <a:defRPr/>
                      </a:pPr>
                      <a:r>
                        <a:rPr>
                          <a:solidFill>
                            <a:schemeClr val="tx1"/>
                          </a:solidFill>
                          <a:latin typeface="Times New Roman"/>
                          <a:ea typeface="Times New Roman"/>
                          <a:cs typeface="Times New Roman"/>
                        </a:rPr>
                        <a:t>0.9888</a:t>
                      </a:r>
                      <a:endParaRPr/>
                    </a:p>
                  </a:txBody>
                  <a:tcPr/>
                </a:tc>
                <a:tc>
                  <a:txBody>
                    <a:bodyPr/>
                    <a:lstStyle/>
                    <a:p>
                      <a:pPr algn="just">
                        <a:lnSpc>
                          <a:spcPct val="114999"/>
                        </a:lnSpc>
                        <a:defRPr/>
                      </a:pPr>
                      <a:r>
                        <a:rPr>
                          <a:solidFill>
                            <a:schemeClr val="tx1"/>
                          </a:solidFill>
                          <a:latin typeface="Times New Roman"/>
                          <a:ea typeface="Times New Roman"/>
                          <a:cs typeface="Times New Roman"/>
                        </a:rPr>
                        <a:t>0.9998</a:t>
                      </a:r>
                      <a:endParaRPr/>
                    </a:p>
                  </a:txBody>
                  <a:tcPr/>
                </a:tc>
                <a:tc>
                  <a:txBody>
                    <a:bodyPr/>
                    <a:lstStyle/>
                    <a:p>
                      <a:pPr algn="just">
                        <a:lnSpc>
                          <a:spcPct val="114999"/>
                        </a:lnSpc>
                        <a:defRPr/>
                      </a:pPr>
                      <a:r>
                        <a:rPr>
                          <a:solidFill>
                            <a:schemeClr val="tx1"/>
                          </a:solidFill>
                          <a:latin typeface="Times New Roman"/>
                          <a:ea typeface="Times New Roman"/>
                          <a:cs typeface="Times New Roman"/>
                        </a:rPr>
                        <a:t>0.9860</a:t>
                      </a:r>
                      <a:endParaRPr/>
                    </a:p>
                  </a:txBody>
                  <a:tcPr/>
                </a:tc>
                <a:extLst>
                  <a:ext uri="{0D108BD9-81ED-4DB2-BD59-A6C34878D82A}">
                    <a16:rowId xmlns:a16="http://schemas.microsoft.com/office/drawing/2014/main" val="10001"/>
                  </a:ext>
                </a:extLst>
              </a:tr>
              <a:tr h="654321">
                <a:tc>
                  <a:txBody>
                    <a:bodyPr/>
                    <a:lstStyle/>
                    <a:p>
                      <a:pPr algn="just">
                        <a:lnSpc>
                          <a:spcPct val="114999"/>
                        </a:lnSpc>
                        <a:defRPr/>
                      </a:pPr>
                      <a:r>
                        <a:rPr>
                          <a:solidFill>
                            <a:schemeClr val="bg1"/>
                          </a:solidFill>
                          <a:latin typeface="Times New Roman"/>
                          <a:ea typeface="Times New Roman"/>
                          <a:cs typeface="Times New Roman"/>
                        </a:rPr>
                        <a:t>MobileNet</a:t>
                      </a:r>
                      <a:endParaRPr/>
                    </a:p>
                  </a:txBody>
                  <a:tcPr/>
                </a:tc>
                <a:tc>
                  <a:txBody>
                    <a:bodyPr/>
                    <a:lstStyle/>
                    <a:p>
                      <a:pPr algn="just">
                        <a:lnSpc>
                          <a:spcPct val="114999"/>
                        </a:lnSpc>
                        <a:defRPr/>
                      </a:pPr>
                      <a:r>
                        <a:rPr>
                          <a:solidFill>
                            <a:schemeClr val="tx1"/>
                          </a:solidFill>
                          <a:latin typeface="Times New Roman"/>
                          <a:ea typeface="Times New Roman"/>
                          <a:cs typeface="Times New Roman"/>
                        </a:rPr>
                        <a:t>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0.9909</a:t>
                      </a:r>
                      <a:endParaRPr/>
                    </a:p>
                  </a:txBody>
                  <a:tcPr/>
                </a:tc>
                <a:tc>
                  <a:txBody>
                    <a:bodyPr/>
                    <a:lstStyle/>
                    <a:p>
                      <a:pPr algn="just">
                        <a:lnSpc>
                          <a:spcPct val="114999"/>
                        </a:lnSpc>
                        <a:defRPr/>
                      </a:pPr>
                      <a:r>
                        <a:rPr>
                          <a:solidFill>
                            <a:schemeClr val="tx1"/>
                          </a:solidFill>
                          <a:latin typeface="Times New Roman"/>
                          <a:ea typeface="Times New Roman"/>
                          <a:cs typeface="Times New Roman"/>
                        </a:rPr>
                        <a:t>0.9909</a:t>
                      </a:r>
                      <a:endParaRPr/>
                    </a:p>
                  </a:txBody>
                  <a:tcPr/>
                </a:tc>
                <a:tc>
                  <a:txBody>
                    <a:bodyPr/>
                    <a:lstStyle/>
                    <a:p>
                      <a:pPr algn="just">
                        <a:lnSpc>
                          <a:spcPct val="114999"/>
                        </a:lnSpc>
                        <a:defRPr/>
                      </a:pPr>
                      <a:r>
                        <a:rPr>
                          <a:solidFill>
                            <a:schemeClr val="tx1"/>
                          </a:solidFill>
                          <a:latin typeface="Times New Roman"/>
                          <a:ea typeface="Times New Roman"/>
                          <a:cs typeface="Times New Roman"/>
                        </a:rPr>
                        <a:t>0.9908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0.9998</a:t>
                      </a:r>
                      <a:endParaRPr/>
                    </a:p>
                  </a:txBody>
                  <a:tcPr/>
                </a:tc>
                <a:tc>
                  <a:txBody>
                    <a:bodyPr/>
                    <a:lstStyle/>
                    <a:p>
                      <a:pPr algn="just">
                        <a:lnSpc>
                          <a:spcPct val="114999"/>
                        </a:lnSpc>
                        <a:defRPr/>
                      </a:pPr>
                      <a:r>
                        <a:rPr>
                          <a:solidFill>
                            <a:schemeClr val="tx1"/>
                          </a:solidFill>
                          <a:latin typeface="Times New Roman"/>
                          <a:ea typeface="Times New Roman"/>
                          <a:cs typeface="Times New Roman"/>
                        </a:rPr>
                        <a:t>0.9885</a:t>
                      </a:r>
                      <a:endParaRPr/>
                    </a:p>
                  </a:txBody>
                  <a:tcPr/>
                </a:tc>
                <a:extLst>
                  <a:ext uri="{0D108BD9-81ED-4DB2-BD59-A6C34878D82A}">
                    <a16:rowId xmlns:a16="http://schemas.microsoft.com/office/drawing/2014/main" val="10002"/>
                  </a:ext>
                </a:extLst>
              </a:tr>
              <a:tr h="654321">
                <a:tc>
                  <a:txBody>
                    <a:bodyPr/>
                    <a:lstStyle/>
                    <a:p>
                      <a:pPr algn="just">
                        <a:lnSpc>
                          <a:spcPct val="114999"/>
                        </a:lnSpc>
                        <a:defRPr/>
                      </a:pPr>
                      <a:r>
                        <a:rPr>
                          <a:solidFill>
                            <a:schemeClr val="bg1"/>
                          </a:solidFill>
                          <a:latin typeface="Times New Roman"/>
                          <a:ea typeface="Times New Roman"/>
                          <a:cs typeface="Times New Roman"/>
                        </a:rPr>
                        <a:t>InceptionV3</a:t>
                      </a:r>
                      <a:endParaRPr/>
                    </a:p>
                  </a:txBody>
                  <a:tcPr/>
                </a:tc>
                <a:tc>
                  <a:txBody>
                    <a:bodyPr/>
                    <a:lstStyle/>
                    <a:p>
                      <a:pPr algn="just">
                        <a:lnSpc>
                          <a:spcPct val="114999"/>
                        </a:lnSpc>
                        <a:defRPr/>
                      </a:pPr>
                      <a:r>
                        <a:rPr>
                          <a:solidFill>
                            <a:schemeClr val="tx1"/>
                          </a:solidFill>
                          <a:latin typeface="Times New Roman"/>
                          <a:ea typeface="Times New Roman"/>
                          <a:cs typeface="Times New Roman"/>
                        </a:rPr>
                        <a:t>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0.9908</a:t>
                      </a:r>
                      <a:endParaRPr/>
                    </a:p>
                  </a:txBody>
                  <a:tcPr/>
                </a:tc>
                <a:tc>
                  <a:txBody>
                    <a:bodyPr/>
                    <a:lstStyle/>
                    <a:p>
                      <a:pPr algn="just">
                        <a:lnSpc>
                          <a:spcPct val="114999"/>
                        </a:lnSpc>
                        <a:defRPr/>
                      </a:pPr>
                      <a:r>
                        <a:rPr>
                          <a:solidFill>
                            <a:schemeClr val="tx1"/>
                          </a:solidFill>
                          <a:latin typeface="Times New Roman"/>
                          <a:ea typeface="Times New Roman"/>
                          <a:cs typeface="Times New Roman"/>
                        </a:rPr>
                        <a:t>0.9997</a:t>
                      </a:r>
                      <a:endParaRPr/>
                    </a:p>
                  </a:txBody>
                  <a:tcPr/>
                </a:tc>
                <a:tc>
                  <a:txBody>
                    <a:bodyPr/>
                    <a:lstStyle/>
                    <a:p>
                      <a:pPr algn="just">
                        <a:lnSpc>
                          <a:spcPct val="114999"/>
                        </a:lnSpc>
                        <a:defRPr/>
                      </a:pPr>
                      <a:r>
                        <a:rPr>
                          <a:solidFill>
                            <a:schemeClr val="tx1"/>
                          </a:solidFill>
                          <a:latin typeface="Times New Roman"/>
                          <a:ea typeface="Times New Roman"/>
                          <a:cs typeface="Times New Roman"/>
                        </a:rPr>
                        <a:t>0.9885</a:t>
                      </a:r>
                      <a:endParaRPr/>
                    </a:p>
                  </a:txBody>
                  <a:tcPr/>
                </a:tc>
                <a:extLst>
                  <a:ext uri="{0D108BD9-81ED-4DB2-BD59-A6C34878D82A}">
                    <a16:rowId xmlns:a16="http://schemas.microsoft.com/office/drawing/2014/main" val="10003"/>
                  </a:ext>
                </a:extLst>
              </a:tr>
              <a:tr h="654321">
                <a:tc>
                  <a:txBody>
                    <a:bodyPr/>
                    <a:lstStyle/>
                    <a:p>
                      <a:pPr algn="just">
                        <a:lnSpc>
                          <a:spcPct val="114999"/>
                        </a:lnSpc>
                        <a:defRPr/>
                      </a:pPr>
                      <a:r>
                        <a:rPr>
                          <a:solidFill>
                            <a:schemeClr val="bg1"/>
                          </a:solidFill>
                          <a:latin typeface="Times New Roman"/>
                          <a:ea typeface="Times New Roman"/>
                          <a:cs typeface="Times New Roman"/>
                        </a:rPr>
                        <a:t>DenseNet201</a:t>
                      </a:r>
                      <a:endParaRPr/>
                    </a:p>
                  </a:txBody>
                  <a:tcPr/>
                </a:tc>
                <a:tc>
                  <a:txBody>
                    <a:bodyPr/>
                    <a:lstStyle/>
                    <a:p>
                      <a:pPr algn="just">
                        <a:lnSpc>
                          <a:spcPct val="114999"/>
                        </a:lnSpc>
                        <a:defRPr/>
                      </a:pPr>
                      <a:r>
                        <a:rPr>
                          <a:solidFill>
                            <a:schemeClr val="tx1"/>
                          </a:solidFill>
                          <a:latin typeface="Times New Roman"/>
                          <a:ea typeface="Times New Roman"/>
                          <a:cs typeface="Times New Roman"/>
                        </a:rPr>
                        <a:t>99.34</a:t>
                      </a:r>
                      <a:endParaRPr/>
                    </a:p>
                  </a:txBody>
                  <a:tcPr/>
                </a:tc>
                <a:tc>
                  <a:txBody>
                    <a:bodyPr/>
                    <a:lstStyle/>
                    <a:p>
                      <a:pPr algn="just">
                        <a:lnSpc>
                          <a:spcPct val="114999"/>
                        </a:lnSpc>
                        <a:defRPr/>
                      </a:pPr>
                      <a:r>
                        <a:rPr>
                          <a:solidFill>
                            <a:schemeClr val="tx1"/>
                          </a:solidFill>
                          <a:latin typeface="Times New Roman"/>
                          <a:ea typeface="Times New Roman"/>
                          <a:cs typeface="Times New Roman"/>
                        </a:rPr>
                        <a:t>0.9934</a:t>
                      </a:r>
                      <a:endParaRPr/>
                    </a:p>
                  </a:txBody>
                  <a:tcPr/>
                </a:tc>
                <a:tc>
                  <a:txBody>
                    <a:bodyPr/>
                    <a:lstStyle/>
                    <a:p>
                      <a:pPr algn="just">
                        <a:lnSpc>
                          <a:spcPct val="114999"/>
                        </a:lnSpc>
                        <a:defRPr/>
                      </a:pPr>
                      <a:r>
                        <a:rPr>
                          <a:solidFill>
                            <a:schemeClr val="tx1"/>
                          </a:solidFill>
                          <a:latin typeface="Times New Roman"/>
                          <a:ea typeface="Times New Roman"/>
                          <a:cs typeface="Times New Roman"/>
                        </a:rPr>
                        <a:t>0.9934</a:t>
                      </a:r>
                      <a:endParaRPr/>
                    </a:p>
                  </a:txBody>
                  <a:tcPr/>
                </a:tc>
                <a:tc>
                  <a:txBody>
                    <a:bodyPr/>
                    <a:lstStyle/>
                    <a:p>
                      <a:pPr algn="just">
                        <a:lnSpc>
                          <a:spcPct val="114999"/>
                        </a:lnSpc>
                        <a:defRPr/>
                      </a:pPr>
                      <a:r>
                        <a:rPr>
                          <a:solidFill>
                            <a:schemeClr val="tx1"/>
                          </a:solidFill>
                          <a:latin typeface="Times New Roman"/>
                          <a:ea typeface="Times New Roman"/>
                          <a:cs typeface="Times New Roman"/>
                        </a:rPr>
                        <a:t>0.9934</a:t>
                      </a:r>
                      <a:endParaRPr/>
                    </a:p>
                  </a:txBody>
                  <a:tcPr/>
                </a:tc>
                <a:tc>
                  <a:txBody>
                    <a:bodyPr/>
                    <a:lstStyle/>
                    <a:p>
                      <a:pPr algn="just">
                        <a:lnSpc>
                          <a:spcPct val="114999"/>
                        </a:lnSpc>
                        <a:defRPr/>
                      </a:pPr>
                      <a:r>
                        <a:rPr>
                          <a:solidFill>
                            <a:schemeClr val="tx1"/>
                          </a:solidFill>
                          <a:latin typeface="Times New Roman"/>
                          <a:ea typeface="Times New Roman"/>
                          <a:cs typeface="Times New Roman"/>
                        </a:rPr>
                        <a:t>1.0000</a:t>
                      </a:r>
                      <a:endParaRPr/>
                    </a:p>
                  </a:txBody>
                  <a:tcPr/>
                </a:tc>
                <a:tc>
                  <a:txBody>
                    <a:bodyPr/>
                    <a:lstStyle/>
                    <a:p>
                      <a:pPr algn="just">
                        <a:lnSpc>
                          <a:spcPct val="114999"/>
                        </a:lnSpc>
                        <a:defRPr/>
                      </a:pPr>
                      <a:r>
                        <a:rPr>
                          <a:solidFill>
                            <a:schemeClr val="tx1"/>
                          </a:solidFill>
                          <a:latin typeface="Times New Roman"/>
                          <a:ea typeface="Times New Roman"/>
                          <a:cs typeface="Times New Roman"/>
                        </a:rPr>
                        <a:t>0.9918</a:t>
                      </a:r>
                      <a:endParaRPr/>
                    </a:p>
                  </a:txBody>
                  <a:tcPr/>
                </a:tc>
                <a:extLst>
                  <a:ext uri="{0D108BD9-81ED-4DB2-BD59-A6C34878D82A}">
                    <a16:rowId xmlns:a16="http://schemas.microsoft.com/office/drawing/2014/main" val="10004"/>
                  </a:ext>
                </a:extLst>
              </a:tr>
              <a:tr h="654321">
                <a:tc>
                  <a:txBody>
                    <a:bodyPr/>
                    <a:lstStyle/>
                    <a:p>
                      <a:pPr algn="just">
                        <a:lnSpc>
                          <a:spcPct val="114999"/>
                        </a:lnSpc>
                        <a:defRPr/>
                      </a:pPr>
                      <a:r>
                        <a:rPr>
                          <a:solidFill>
                            <a:schemeClr val="bg1"/>
                          </a:solidFill>
                          <a:latin typeface="Times New Roman"/>
                          <a:ea typeface="Times New Roman"/>
                          <a:cs typeface="Times New Roman"/>
                        </a:rPr>
                        <a:t>EfficientNetV2B0</a:t>
                      </a:r>
                      <a:endParaRPr/>
                    </a:p>
                  </a:txBody>
                  <a:tcPr/>
                </a:tc>
                <a:tc>
                  <a:txBody>
                    <a:bodyPr/>
                    <a:lstStyle/>
                    <a:p>
                      <a:pPr algn="just">
                        <a:lnSpc>
                          <a:spcPct val="114999"/>
                        </a:lnSpc>
                        <a:defRPr/>
                      </a:pPr>
                      <a:r>
                        <a:rPr>
                          <a:solidFill>
                            <a:schemeClr val="tx1"/>
                          </a:solidFill>
                          <a:latin typeface="Times New Roman"/>
                          <a:ea typeface="Times New Roman"/>
                          <a:cs typeface="Times New Roman"/>
                        </a:rPr>
                        <a:t>99.54</a:t>
                      </a:r>
                      <a:endParaRPr/>
                    </a:p>
                  </a:txBody>
                  <a:tcPr/>
                </a:tc>
                <a:tc>
                  <a:txBody>
                    <a:bodyPr/>
                    <a:lstStyle/>
                    <a:p>
                      <a:pPr algn="just">
                        <a:lnSpc>
                          <a:spcPct val="114999"/>
                        </a:lnSpc>
                        <a:defRPr/>
                      </a:pPr>
                      <a:r>
                        <a:rPr>
                          <a:solidFill>
                            <a:schemeClr val="tx1"/>
                          </a:solidFill>
                          <a:latin typeface="Times New Roman"/>
                          <a:ea typeface="Times New Roman"/>
                          <a:cs typeface="Times New Roman"/>
                        </a:rPr>
                        <a:t>0.9954</a:t>
                      </a:r>
                      <a:endParaRPr/>
                    </a:p>
                  </a:txBody>
                  <a:tcPr/>
                </a:tc>
                <a:tc>
                  <a:txBody>
                    <a:bodyPr/>
                    <a:lstStyle/>
                    <a:p>
                      <a:pPr algn="just">
                        <a:lnSpc>
                          <a:spcPct val="114999"/>
                        </a:lnSpc>
                        <a:defRPr/>
                      </a:pPr>
                      <a:r>
                        <a:rPr>
                          <a:solidFill>
                            <a:schemeClr val="tx1"/>
                          </a:solidFill>
                          <a:latin typeface="Times New Roman"/>
                          <a:ea typeface="Times New Roman"/>
                          <a:cs typeface="Times New Roman"/>
                        </a:rPr>
                        <a:t>0.9954</a:t>
                      </a:r>
                      <a:endParaRPr/>
                    </a:p>
                  </a:txBody>
                  <a:tcPr/>
                </a:tc>
                <a:tc>
                  <a:txBody>
                    <a:bodyPr/>
                    <a:lstStyle/>
                    <a:p>
                      <a:pPr algn="just">
                        <a:lnSpc>
                          <a:spcPct val="114999"/>
                        </a:lnSpc>
                        <a:defRPr/>
                      </a:pPr>
                      <a:r>
                        <a:rPr>
                          <a:solidFill>
                            <a:schemeClr val="tx1"/>
                          </a:solidFill>
                          <a:latin typeface="Times New Roman"/>
                          <a:ea typeface="Times New Roman"/>
                          <a:cs typeface="Times New Roman"/>
                        </a:rPr>
                        <a:t>0.9954</a:t>
                      </a:r>
                      <a:endParaRPr/>
                    </a:p>
                  </a:txBody>
                  <a:tcPr/>
                </a:tc>
                <a:tc>
                  <a:txBody>
                    <a:bodyPr/>
                    <a:lstStyle/>
                    <a:p>
                      <a:pPr algn="just">
                        <a:lnSpc>
                          <a:spcPct val="114999"/>
                        </a:lnSpc>
                        <a:defRPr/>
                      </a:pPr>
                      <a:r>
                        <a:rPr>
                          <a:solidFill>
                            <a:schemeClr val="tx1"/>
                          </a:solidFill>
                          <a:latin typeface="Times New Roman"/>
                          <a:ea typeface="Times New Roman"/>
                          <a:cs typeface="Times New Roman"/>
                        </a:rPr>
                        <a:t>1.0000</a:t>
                      </a:r>
                      <a:endParaRPr/>
                    </a:p>
                  </a:txBody>
                  <a:tcPr/>
                </a:tc>
                <a:tc>
                  <a:txBody>
                    <a:bodyPr/>
                    <a:lstStyle/>
                    <a:p>
                      <a:pPr algn="just">
                        <a:lnSpc>
                          <a:spcPct val="114999"/>
                        </a:lnSpc>
                        <a:defRPr/>
                      </a:pPr>
                      <a:r>
                        <a:rPr>
                          <a:solidFill>
                            <a:schemeClr val="tx1"/>
                          </a:solidFill>
                          <a:latin typeface="Times New Roman"/>
                          <a:ea typeface="Times New Roman"/>
                          <a:cs typeface="Times New Roman"/>
                        </a:rPr>
                        <a:t>0.9943</a:t>
                      </a:r>
                      <a:endParaRPr/>
                    </a:p>
                  </a:txBody>
                  <a:tcPr/>
                </a:tc>
                <a:extLst>
                  <a:ext uri="{0D108BD9-81ED-4DB2-BD59-A6C34878D82A}">
                    <a16:rowId xmlns:a16="http://schemas.microsoft.com/office/drawing/2014/main" val="10005"/>
                  </a:ext>
                </a:extLst>
              </a:tr>
            </a:tbl>
          </a:graphicData>
        </a:graphic>
      </p:graphicFrame>
      <p:sp>
        <p:nvSpPr>
          <p:cNvPr id="7" name="TextBox 6">
            <a:extLst>
              <a:ext uri="{FF2B5EF4-FFF2-40B4-BE49-F238E27FC236}">
                <a16:creationId xmlns:a16="http://schemas.microsoft.com/office/drawing/2014/main" id="{A6CA990A-3EB1-3B2C-37F2-5192E0454E2E}"/>
              </a:ext>
            </a:extLst>
          </p:cNvPr>
          <p:cNvSpPr txBox="1"/>
          <p:nvPr/>
        </p:nvSpPr>
        <p:spPr bwMode="auto">
          <a:xfrm>
            <a:off x="962405" y="1102959"/>
            <a:ext cx="429703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b="1">
                <a:latin typeface="Times New Roman"/>
                <a:ea typeface="Times New Roman"/>
                <a:cs typeface="Times New Roman"/>
              </a:rPr>
              <a:t>CNN Model Result:</a:t>
            </a:r>
            <a:endParaRPr b="1">
              <a:latin typeface="Times New Roman"/>
              <a:cs typeface="Times New Roman"/>
            </a:endParaRPr>
          </a:p>
        </p:txBody>
      </p:sp>
    </p:spTree>
    <p:extLst>
      <p:ext uri="{BB962C8B-B14F-4D97-AF65-F5344CB8AC3E}">
        <p14:creationId xmlns:p14="http://schemas.microsoft.com/office/powerpoint/2010/main" val="1659567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9</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Table 34176219">
            <a:extLst>
              <a:ext uri="{FF2B5EF4-FFF2-40B4-BE49-F238E27FC236}">
                <a16:creationId xmlns:a16="http://schemas.microsoft.com/office/drawing/2014/main" id="{0AF3CCA4-B2E5-154E-EFA9-0C968349829B}"/>
              </a:ext>
            </a:extLst>
          </p:cNvPr>
          <p:cNvGraphicFramePr>
            <a:graphicFrameLocks/>
          </p:cNvGraphicFramePr>
          <p:nvPr/>
        </p:nvGraphicFramePr>
        <p:xfrm>
          <a:off x="1141375" y="2028199"/>
          <a:ext cx="10104120" cy="3391917"/>
        </p:xfrm>
        <a:graphic>
          <a:graphicData uri="http://schemas.openxmlformats.org/drawingml/2006/table">
            <a:tbl>
              <a:tblPr firstRow="1" firstCol="1" bandRow="1">
                <a:tableStyleId>{5C22544A-7EE6-4342-B048-85BDC9FD1C3A}</a:tableStyleId>
              </a:tblPr>
              <a:tblGrid>
                <a:gridCol w="3157538">
                  <a:extLst>
                    <a:ext uri="{9D8B030D-6E8A-4147-A177-3AD203B41FA5}">
                      <a16:colId xmlns:a16="http://schemas.microsoft.com/office/drawing/2014/main" val="20000"/>
                    </a:ext>
                  </a:extLst>
                </a:gridCol>
                <a:gridCol w="1478470">
                  <a:extLst>
                    <a:ext uri="{9D8B030D-6E8A-4147-A177-3AD203B41FA5}">
                      <a16:colId xmlns:a16="http://schemas.microsoft.com/office/drawing/2014/main" val="20001"/>
                    </a:ext>
                  </a:extLst>
                </a:gridCol>
                <a:gridCol w="1554668">
                  <a:extLst>
                    <a:ext uri="{9D8B030D-6E8A-4147-A177-3AD203B41FA5}">
                      <a16:colId xmlns:a16="http://schemas.microsoft.com/office/drawing/2014/main" val="20002"/>
                    </a:ext>
                  </a:extLst>
                </a:gridCol>
                <a:gridCol w="978361">
                  <a:extLst>
                    <a:ext uri="{9D8B030D-6E8A-4147-A177-3AD203B41FA5}">
                      <a16:colId xmlns:a16="http://schemas.microsoft.com/office/drawing/2014/main" val="20003"/>
                    </a:ext>
                  </a:extLst>
                </a:gridCol>
                <a:gridCol w="978361">
                  <a:extLst>
                    <a:ext uri="{9D8B030D-6E8A-4147-A177-3AD203B41FA5}">
                      <a16:colId xmlns:a16="http://schemas.microsoft.com/office/drawing/2014/main" val="20004"/>
                    </a:ext>
                  </a:extLst>
                </a:gridCol>
                <a:gridCol w="978361">
                  <a:extLst>
                    <a:ext uri="{9D8B030D-6E8A-4147-A177-3AD203B41FA5}">
                      <a16:colId xmlns:a16="http://schemas.microsoft.com/office/drawing/2014/main" val="20005"/>
                    </a:ext>
                  </a:extLst>
                </a:gridCol>
                <a:gridCol w="978361">
                  <a:extLst>
                    <a:ext uri="{9D8B030D-6E8A-4147-A177-3AD203B41FA5}">
                      <a16:colId xmlns:a16="http://schemas.microsoft.com/office/drawing/2014/main" val="20006"/>
                    </a:ext>
                  </a:extLst>
                </a:gridCol>
              </a:tblGrid>
              <a:tr h="1000761">
                <a:tc>
                  <a:txBody>
                    <a:bodyPr/>
                    <a:lstStyle/>
                    <a:p>
                      <a:pPr algn="just">
                        <a:lnSpc>
                          <a:spcPct val="100000"/>
                        </a:lnSpc>
                        <a:defRPr/>
                      </a:pPr>
                      <a:r>
                        <a:rPr sz="1800" b="0">
                          <a:solidFill>
                            <a:schemeClr val="bg1"/>
                          </a:solidFill>
                          <a:latin typeface="Times New Roman"/>
                          <a:ea typeface="Century"/>
                          <a:cs typeface="Times New Roman"/>
                        </a:rPr>
                        <a:t>Model</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Accuracy (%)</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Precision (</a:t>
                      </a:r>
                      <a:r>
                        <a:rPr lang="en-US" sz="1800" b="0">
                          <a:solidFill>
                            <a:schemeClr val="bg1"/>
                          </a:solidFill>
                          <a:latin typeface="Times New Roman"/>
                          <a:ea typeface="Century"/>
                          <a:cs typeface="Times New Roman"/>
                        </a:rPr>
                        <a:t>%</a:t>
                      </a:r>
                      <a:r>
                        <a:rPr sz="1800" b="0">
                          <a:solidFill>
                            <a:schemeClr val="bg1"/>
                          </a:solidFill>
                          <a:latin typeface="Times New Roman"/>
                          <a:ea typeface="Century"/>
                          <a:cs typeface="Times New Roman"/>
                        </a:rPr>
                        <a:t>)</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Recall (</a:t>
                      </a:r>
                      <a:r>
                        <a:rPr lang="en-US" sz="1800" b="0">
                          <a:solidFill>
                            <a:schemeClr val="bg1"/>
                          </a:solidFill>
                          <a:latin typeface="Times New Roman"/>
                          <a:ea typeface="Century"/>
                          <a:cs typeface="Times New Roman"/>
                        </a:rPr>
                        <a:t>%</a:t>
                      </a:r>
                      <a:r>
                        <a:rPr sz="1800" b="0">
                          <a:solidFill>
                            <a:schemeClr val="bg1"/>
                          </a:solidFill>
                          <a:latin typeface="Times New Roman"/>
                          <a:ea typeface="Century"/>
                          <a:cs typeface="Times New Roman"/>
                        </a:rPr>
                        <a:t>)</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F1-score (</a:t>
                      </a:r>
                      <a:r>
                        <a:rPr lang="en-US" sz="1800" b="0">
                          <a:solidFill>
                            <a:schemeClr val="bg1"/>
                          </a:solidFill>
                          <a:latin typeface="Times New Roman"/>
                          <a:ea typeface="Century"/>
                          <a:cs typeface="Times New Roman"/>
                        </a:rPr>
                        <a:t>%</a:t>
                      </a:r>
                      <a:r>
                        <a:rPr sz="1800" b="0">
                          <a:solidFill>
                            <a:schemeClr val="bg1"/>
                          </a:solidFill>
                          <a:latin typeface="Times New Roman"/>
                          <a:ea typeface="Century"/>
                          <a:cs typeface="Times New Roman"/>
                        </a:rPr>
                        <a:t>)</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ROC-AUC </a:t>
                      </a:r>
                      <a:endParaRPr sz="1800" b="0">
                        <a:solidFill>
                          <a:schemeClr val="bg1"/>
                        </a:solidFill>
                        <a:latin typeface="Times New Roman"/>
                        <a:cs typeface="Times New Roman"/>
                      </a:endParaRPr>
                    </a:p>
                  </a:txBody>
                  <a:tcPr/>
                </a:tc>
                <a:tc>
                  <a:txBody>
                    <a:bodyPr/>
                    <a:lstStyle/>
                    <a:p>
                      <a:pPr algn="just">
                        <a:lnSpc>
                          <a:spcPct val="100000"/>
                        </a:lnSpc>
                        <a:defRPr/>
                      </a:pPr>
                      <a:r>
                        <a:rPr sz="1800" b="0">
                          <a:solidFill>
                            <a:schemeClr val="bg1"/>
                          </a:solidFill>
                          <a:latin typeface="Times New Roman"/>
                          <a:ea typeface="Century"/>
                          <a:cs typeface="Times New Roman"/>
                        </a:rPr>
                        <a:t>MCC (</a:t>
                      </a:r>
                      <a:r>
                        <a:rPr lang="en-US" sz="1800" b="0">
                          <a:solidFill>
                            <a:schemeClr val="bg1"/>
                          </a:solidFill>
                          <a:latin typeface="Times New Roman"/>
                          <a:ea typeface="Century"/>
                          <a:cs typeface="Times New Roman"/>
                        </a:rPr>
                        <a:t>%</a:t>
                      </a:r>
                      <a:r>
                        <a:rPr sz="1800" b="0">
                          <a:solidFill>
                            <a:schemeClr val="bg1"/>
                          </a:solidFill>
                          <a:latin typeface="Times New Roman"/>
                          <a:ea typeface="Century"/>
                          <a:cs typeface="Times New Roman"/>
                        </a:rPr>
                        <a:t>)</a:t>
                      </a:r>
                      <a:endParaRPr sz="1800" b="0">
                        <a:solidFill>
                          <a:schemeClr val="bg1"/>
                        </a:solidFill>
                        <a:latin typeface="Times New Roman"/>
                        <a:cs typeface="Times New Roman"/>
                      </a:endParaRPr>
                    </a:p>
                  </a:txBody>
                  <a:tcPr/>
                </a:tc>
                <a:extLst>
                  <a:ext uri="{0D108BD9-81ED-4DB2-BD59-A6C34878D82A}">
                    <a16:rowId xmlns:a16="http://schemas.microsoft.com/office/drawing/2014/main" val="10000"/>
                  </a:ext>
                </a:extLst>
              </a:tr>
              <a:tr h="1037844">
                <a:tc>
                  <a:txBody>
                    <a:bodyPr/>
                    <a:lstStyle/>
                    <a:p>
                      <a:pPr algn="just">
                        <a:lnSpc>
                          <a:spcPct val="114999"/>
                        </a:lnSpc>
                        <a:defRPr/>
                      </a:pPr>
                      <a:r>
                        <a:rPr sz="1800">
                          <a:solidFill>
                            <a:schemeClr val="bg1"/>
                          </a:solidFill>
                          <a:latin typeface="Times New Roman"/>
                          <a:ea typeface="Times New Roman"/>
                          <a:cs typeface="Times New Roman"/>
                        </a:rPr>
                        <a:t>Ensemble (DenseNet201 + EfficientNetV2B0)</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99.67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67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67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67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1.0000</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59</a:t>
                      </a:r>
                      <a:endParaRPr/>
                    </a:p>
                  </a:txBody>
                  <a:tcPr/>
                </a:tc>
                <a:extLst>
                  <a:ext uri="{0D108BD9-81ED-4DB2-BD59-A6C34878D82A}">
                    <a16:rowId xmlns:a16="http://schemas.microsoft.com/office/drawing/2014/main" val="10001"/>
                  </a:ext>
                </a:extLst>
              </a:tr>
              <a:tr h="1353312">
                <a:tc>
                  <a:txBody>
                    <a:bodyPr/>
                    <a:lstStyle/>
                    <a:p>
                      <a:pPr algn="just">
                        <a:lnSpc>
                          <a:spcPct val="114999"/>
                        </a:lnSpc>
                        <a:defRPr/>
                      </a:pPr>
                      <a:r>
                        <a:rPr sz="1800">
                          <a:solidFill>
                            <a:schemeClr val="bg1"/>
                          </a:solidFill>
                          <a:latin typeface="Times New Roman"/>
                          <a:ea typeface="Times New Roman"/>
                          <a:cs typeface="Times New Roman"/>
                        </a:rPr>
                        <a:t>Ensemble (DenseNet201 + EfficientNetV2B0 + InceptionV3)</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99.47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48</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47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47</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93</a:t>
                      </a:r>
                      <a:endParaRPr/>
                    </a:p>
                  </a:txBody>
                  <a:tcPr/>
                </a:tc>
                <a:tc>
                  <a:txBody>
                    <a:bodyPr/>
                    <a:lstStyle/>
                    <a:p>
                      <a:pPr algn="just">
                        <a:lnSpc>
                          <a:spcPct val="114999"/>
                        </a:lnSpc>
                        <a:defRPr/>
                      </a:pPr>
                      <a:r>
                        <a:rPr sz="1800">
                          <a:solidFill>
                            <a:schemeClr val="tx1"/>
                          </a:solidFill>
                          <a:latin typeface="Times New Roman"/>
                          <a:ea typeface="Times New Roman"/>
                          <a:cs typeface="Times New Roman"/>
                        </a:rPr>
                        <a:t>99</a:t>
                      </a:r>
                      <a:r>
                        <a:rPr lang="en-US" sz="1800">
                          <a:solidFill>
                            <a:schemeClr val="tx1"/>
                          </a:solidFill>
                          <a:latin typeface="Times New Roman"/>
                          <a:ea typeface="Times New Roman"/>
                          <a:cs typeface="Times New Roman"/>
                        </a:rPr>
                        <a:t>.</a:t>
                      </a:r>
                      <a:r>
                        <a:rPr sz="1800">
                          <a:solidFill>
                            <a:schemeClr val="tx1"/>
                          </a:solidFill>
                          <a:latin typeface="Times New Roman"/>
                          <a:ea typeface="Times New Roman"/>
                          <a:cs typeface="Times New Roman"/>
                        </a:rPr>
                        <a:t>34</a:t>
                      </a:r>
                      <a:endParaRPr/>
                    </a:p>
                  </a:txBody>
                  <a:tcPr/>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8F1D0B58-2E0C-0BC6-EDD8-A6489E8675D0}"/>
              </a:ext>
            </a:extLst>
          </p:cNvPr>
          <p:cNvSpPr txBox="1"/>
          <p:nvPr/>
        </p:nvSpPr>
        <p:spPr bwMode="auto">
          <a:xfrm>
            <a:off x="1141375" y="1332133"/>
            <a:ext cx="2805051"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b="1">
                <a:latin typeface="Times New Roman"/>
                <a:ea typeface="Times New Roman"/>
                <a:cs typeface="Times New Roman"/>
              </a:rPr>
              <a:t>Ensemble Model Result:</a:t>
            </a:r>
            <a:endParaRPr b="1">
              <a:latin typeface="Times New Roman"/>
              <a:cs typeface="Times New Roman"/>
            </a:endParaRPr>
          </a:p>
        </p:txBody>
      </p:sp>
    </p:spTree>
    <p:extLst>
      <p:ext uri="{BB962C8B-B14F-4D97-AF65-F5344CB8AC3E}">
        <p14:creationId xmlns:p14="http://schemas.microsoft.com/office/powerpoint/2010/main" val="3864502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10</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Table 1">
            <a:extLst>
              <a:ext uri="{FF2B5EF4-FFF2-40B4-BE49-F238E27FC236}">
                <a16:creationId xmlns:a16="http://schemas.microsoft.com/office/drawing/2014/main" id="{72483090-5F7E-5105-569D-C0C0CFB5E71E}"/>
              </a:ext>
            </a:extLst>
          </p:cNvPr>
          <p:cNvGraphicFramePr>
            <a:graphicFrameLocks noGrp="1"/>
          </p:cNvGraphicFramePr>
          <p:nvPr/>
        </p:nvGraphicFramePr>
        <p:xfrm>
          <a:off x="865632" y="1408176"/>
          <a:ext cx="10853928" cy="3566160"/>
        </p:xfrm>
        <a:graphic>
          <a:graphicData uri="http://schemas.openxmlformats.org/drawingml/2006/table">
            <a:tbl>
              <a:tblPr>
                <a:tableStyleId>{D7AC3CCA-C797-4891-BE02-D94E43425B78}</a:tableStyleId>
              </a:tblPr>
              <a:tblGrid>
                <a:gridCol w="1808988">
                  <a:extLst>
                    <a:ext uri="{9D8B030D-6E8A-4147-A177-3AD203B41FA5}">
                      <a16:colId xmlns:a16="http://schemas.microsoft.com/office/drawing/2014/main" val="20000"/>
                    </a:ext>
                  </a:extLst>
                </a:gridCol>
                <a:gridCol w="1808988">
                  <a:extLst>
                    <a:ext uri="{9D8B030D-6E8A-4147-A177-3AD203B41FA5}">
                      <a16:colId xmlns:a16="http://schemas.microsoft.com/office/drawing/2014/main" val="20001"/>
                    </a:ext>
                  </a:extLst>
                </a:gridCol>
                <a:gridCol w="1808988">
                  <a:extLst>
                    <a:ext uri="{9D8B030D-6E8A-4147-A177-3AD203B41FA5}">
                      <a16:colId xmlns:a16="http://schemas.microsoft.com/office/drawing/2014/main" val="20002"/>
                    </a:ext>
                  </a:extLst>
                </a:gridCol>
                <a:gridCol w="1808988">
                  <a:extLst>
                    <a:ext uri="{9D8B030D-6E8A-4147-A177-3AD203B41FA5}">
                      <a16:colId xmlns:a16="http://schemas.microsoft.com/office/drawing/2014/main" val="20003"/>
                    </a:ext>
                  </a:extLst>
                </a:gridCol>
                <a:gridCol w="1808988">
                  <a:extLst>
                    <a:ext uri="{9D8B030D-6E8A-4147-A177-3AD203B41FA5}">
                      <a16:colId xmlns:a16="http://schemas.microsoft.com/office/drawing/2014/main" val="20004"/>
                    </a:ext>
                  </a:extLst>
                </a:gridCol>
                <a:gridCol w="1808988">
                  <a:extLst>
                    <a:ext uri="{9D8B030D-6E8A-4147-A177-3AD203B41FA5}">
                      <a16:colId xmlns:a16="http://schemas.microsoft.com/office/drawing/2014/main" val="20005"/>
                    </a:ext>
                  </a:extLst>
                </a:gridCol>
              </a:tblGrid>
              <a:tr h="343251">
                <a:tc>
                  <a:txBody>
                    <a:bodyPr/>
                    <a:lstStyle/>
                    <a:p>
                      <a:pPr>
                        <a:defRPr/>
                      </a:pPr>
                      <a:r>
                        <a:rPr lang="en-US" b="1">
                          <a:solidFill>
                            <a:schemeClr val="bg1"/>
                          </a:solidFill>
                          <a:latin typeface="Times New Roman"/>
                          <a:cs typeface="Times New Roman"/>
                        </a:rPr>
                        <a:t>Model</a:t>
                      </a:r>
                      <a:endParaRPr lang="en-US">
                        <a:solidFill>
                          <a:schemeClr val="bg1"/>
                        </a:solidFill>
                        <a:latin typeface="Times New Roman"/>
                        <a:cs typeface="Times New Roman"/>
                      </a:endParaRPr>
                    </a:p>
                  </a:txBody>
                  <a:tcPr anchor="ctr">
                    <a:solidFill>
                      <a:schemeClr val="tx2">
                        <a:lumMod val="60000"/>
                        <a:lumOff val="40000"/>
                      </a:schemeClr>
                    </a:solidFill>
                  </a:tcPr>
                </a:tc>
                <a:tc>
                  <a:txBody>
                    <a:bodyPr/>
                    <a:lstStyle/>
                    <a:p>
                      <a:pPr>
                        <a:defRPr/>
                      </a:pPr>
                      <a:r>
                        <a:rPr lang="en-US" b="1">
                          <a:latin typeface="Times New Roman"/>
                          <a:cs typeface="Times New Roman"/>
                        </a:rPr>
                        <a:t>Classes</a:t>
                      </a:r>
                      <a:endParaRPr lang="en-US">
                        <a:latin typeface="Times New Roman"/>
                        <a:cs typeface="Times New Roman"/>
                      </a:endParaRPr>
                    </a:p>
                  </a:txBody>
                  <a:tcPr anchor="ctr">
                    <a:solidFill>
                      <a:schemeClr val="bg1"/>
                    </a:solidFill>
                  </a:tcPr>
                </a:tc>
                <a:tc>
                  <a:txBody>
                    <a:bodyPr/>
                    <a:lstStyle/>
                    <a:p>
                      <a:pPr>
                        <a:defRPr/>
                      </a:pPr>
                      <a:r>
                        <a:rPr lang="en-US" b="1">
                          <a:latin typeface="Times New Roman"/>
                          <a:cs typeface="Times New Roman"/>
                        </a:rPr>
                        <a:t>Precision</a:t>
                      </a:r>
                      <a:endParaRPr lang="en-US">
                        <a:latin typeface="Times New Roman"/>
                        <a:cs typeface="Times New Roman"/>
                      </a:endParaRPr>
                    </a:p>
                  </a:txBody>
                  <a:tcPr anchor="ctr">
                    <a:solidFill>
                      <a:schemeClr val="bg1"/>
                    </a:solidFill>
                  </a:tcPr>
                </a:tc>
                <a:tc>
                  <a:txBody>
                    <a:bodyPr/>
                    <a:lstStyle/>
                    <a:p>
                      <a:pPr>
                        <a:defRPr/>
                      </a:pPr>
                      <a:r>
                        <a:rPr lang="en-US" b="1">
                          <a:latin typeface="Times New Roman"/>
                          <a:cs typeface="Times New Roman"/>
                        </a:rPr>
                        <a:t>Recall</a:t>
                      </a:r>
                      <a:endParaRPr lang="en-US">
                        <a:latin typeface="Times New Roman"/>
                        <a:cs typeface="Times New Roman"/>
                      </a:endParaRPr>
                    </a:p>
                  </a:txBody>
                  <a:tcPr anchor="ctr">
                    <a:solidFill>
                      <a:schemeClr val="bg1"/>
                    </a:solidFill>
                  </a:tcPr>
                </a:tc>
                <a:tc>
                  <a:txBody>
                    <a:bodyPr/>
                    <a:lstStyle/>
                    <a:p>
                      <a:pPr>
                        <a:defRPr/>
                      </a:pPr>
                      <a:r>
                        <a:rPr lang="en-US" b="1">
                          <a:latin typeface="Times New Roman"/>
                          <a:cs typeface="Times New Roman"/>
                        </a:rPr>
                        <a:t>F1-Score</a:t>
                      </a:r>
                      <a:endParaRPr lang="en-US">
                        <a:latin typeface="Times New Roman"/>
                        <a:cs typeface="Times New Roman"/>
                      </a:endParaRPr>
                    </a:p>
                  </a:txBody>
                  <a:tcPr anchor="ctr">
                    <a:solidFill>
                      <a:schemeClr val="bg1"/>
                    </a:solidFill>
                  </a:tcPr>
                </a:tc>
                <a:tc>
                  <a:txBody>
                    <a:bodyPr/>
                    <a:lstStyle/>
                    <a:p>
                      <a:pPr>
                        <a:defRPr/>
                      </a:pPr>
                      <a:r>
                        <a:rPr lang="en-US" b="1">
                          <a:latin typeface="Times New Roman"/>
                          <a:cs typeface="Times New Roman"/>
                        </a:rPr>
                        <a:t>Support</a:t>
                      </a:r>
                      <a:endParaRPr lang="en-US">
                        <a:latin typeface="Times New Roman"/>
                        <a:cs typeface="Times New Roman"/>
                      </a:endParaRPr>
                    </a:p>
                  </a:txBody>
                  <a:tcPr anchor="ctr">
                    <a:solidFill>
                      <a:schemeClr val="bg1"/>
                    </a:solidFill>
                  </a:tcPr>
                </a:tc>
                <a:extLst>
                  <a:ext uri="{0D108BD9-81ED-4DB2-BD59-A6C34878D82A}">
                    <a16:rowId xmlns:a16="http://schemas.microsoft.com/office/drawing/2014/main" val="10000"/>
                  </a:ext>
                </a:extLst>
              </a:tr>
              <a:tr h="600690">
                <a:tc rowSpan="8">
                  <a:txBody>
                    <a:bodyPr/>
                    <a:lstStyle/>
                    <a:p>
                      <a:pPr>
                        <a:defRPr/>
                      </a:pPr>
                      <a:r>
                        <a:rPr lang="en-US" b="1">
                          <a:solidFill>
                            <a:schemeClr val="bg1"/>
                          </a:solidFill>
                          <a:latin typeface="Times New Roman"/>
                          <a:cs typeface="Times New Roman"/>
                        </a:rPr>
                        <a:t>Ensemble-2 (D201 + Ev2B0)</a:t>
                      </a:r>
                      <a:endParaRPr lang="en-US">
                        <a:solidFill>
                          <a:schemeClr val="bg1"/>
                        </a:solidFill>
                        <a:latin typeface="Times New Roman"/>
                        <a:cs typeface="Times New Roman"/>
                      </a:endParaRPr>
                    </a:p>
                  </a:txBody>
                  <a:tcPr anchor="ctr">
                    <a:solidFill>
                      <a:schemeClr val="tx2">
                        <a:lumMod val="60000"/>
                        <a:lumOff val="40000"/>
                      </a:schemeClr>
                    </a:solidFill>
                  </a:tcPr>
                </a:tc>
                <a:tc>
                  <a:txBody>
                    <a:bodyPr/>
                    <a:lstStyle/>
                    <a:p>
                      <a:pPr>
                        <a:defRPr/>
                      </a:pPr>
                      <a:r>
                        <a:rPr lang="en-US" b="0">
                          <a:latin typeface="Times New Roman"/>
                          <a:cs typeface="Times New Roman"/>
                        </a:rPr>
                        <a:t>Cercospora Leaf Spot</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0.9902</a:t>
                      </a:r>
                      <a:endParaRPr/>
                    </a:p>
                  </a:txBody>
                  <a:tcPr anchor="ctr">
                    <a:solidFill>
                      <a:schemeClr val="bg1"/>
                    </a:solidFill>
                  </a:tcPr>
                </a:tc>
                <a:tc>
                  <a:txBody>
                    <a:bodyPr/>
                    <a:lstStyle/>
                    <a:p>
                      <a:pPr>
                        <a:defRPr/>
                      </a:pPr>
                      <a:r>
                        <a:rPr lang="en-US" b="0">
                          <a:latin typeface="Times New Roman"/>
                          <a:cs typeface="Times New Roman"/>
                        </a:rPr>
                        <a:t>0.9951</a:t>
                      </a:r>
                      <a:endParaRPr/>
                    </a:p>
                  </a:txBody>
                  <a:tcPr anchor="ctr">
                    <a:solidFill>
                      <a:schemeClr val="bg1"/>
                    </a:solidFill>
                  </a:tcPr>
                </a:tc>
                <a:tc>
                  <a:txBody>
                    <a:bodyPr/>
                    <a:lstStyle/>
                    <a:p>
                      <a:pPr>
                        <a:defRPr/>
                      </a:pPr>
                      <a:r>
                        <a:rPr lang="en-US" b="0">
                          <a:latin typeface="Times New Roman"/>
                          <a:cs typeface="Times New Roman"/>
                        </a:rPr>
                        <a:t>305</a:t>
                      </a:r>
                      <a:endParaRPr/>
                    </a:p>
                  </a:txBody>
                  <a:tcPr anchor="ctr">
                    <a:solidFill>
                      <a:schemeClr val="bg1"/>
                    </a:solidFill>
                  </a:tcPr>
                </a:tc>
                <a:extLst>
                  <a:ext uri="{0D108BD9-81ED-4DB2-BD59-A6C34878D82A}">
                    <a16:rowId xmlns:a16="http://schemas.microsoft.com/office/drawing/2014/main" val="10001"/>
                  </a:ext>
                </a:extLst>
              </a:tr>
              <a:tr h="343251">
                <a:tc vMerge="1">
                  <a:txBody>
                    <a:bodyPr/>
                    <a:lstStyle/>
                    <a:p>
                      <a:pPr>
                        <a:defRPr/>
                      </a:pPr>
                      <a:endParaRPr lang="en-US"/>
                    </a:p>
                  </a:txBody>
                  <a:tcPr anchor="ctr"/>
                </a:tc>
                <a:tc>
                  <a:txBody>
                    <a:bodyPr/>
                    <a:lstStyle/>
                    <a:p>
                      <a:pPr>
                        <a:defRPr/>
                      </a:pPr>
                      <a:r>
                        <a:rPr lang="en-US" b="0">
                          <a:latin typeface="Times New Roman"/>
                          <a:cs typeface="Times New Roman"/>
                        </a:rPr>
                        <a:t>Healthy</a:t>
                      </a:r>
                      <a:endParaRPr/>
                    </a:p>
                  </a:txBody>
                  <a:tcPr anchor="ctr">
                    <a:solidFill>
                      <a:schemeClr val="bg1"/>
                    </a:solidFill>
                  </a:tcPr>
                </a:tc>
                <a:tc>
                  <a:txBody>
                    <a:bodyPr/>
                    <a:lstStyle/>
                    <a:p>
                      <a:pPr>
                        <a:defRPr/>
                      </a:pPr>
                      <a:r>
                        <a:rPr lang="en-US" b="0">
                          <a:latin typeface="Times New Roman"/>
                          <a:cs typeface="Times New Roman"/>
                        </a:rPr>
                        <a:t>0.9902</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0.9951</a:t>
                      </a:r>
                      <a:endParaRPr/>
                    </a:p>
                  </a:txBody>
                  <a:tcPr anchor="ctr">
                    <a:solidFill>
                      <a:schemeClr val="bg1"/>
                    </a:solidFill>
                  </a:tcPr>
                </a:tc>
                <a:tc>
                  <a:txBody>
                    <a:bodyPr/>
                    <a:lstStyle/>
                    <a:p>
                      <a:pPr>
                        <a:defRPr/>
                      </a:pPr>
                      <a:r>
                        <a:rPr lang="en-US" b="0">
                          <a:latin typeface="Times New Roman"/>
                          <a:cs typeface="Times New Roman"/>
                        </a:rPr>
                        <a:t>302</a:t>
                      </a:r>
                      <a:endParaRPr/>
                    </a:p>
                  </a:txBody>
                  <a:tcPr anchor="ctr">
                    <a:solidFill>
                      <a:schemeClr val="bg1"/>
                    </a:solidFill>
                  </a:tcPr>
                </a:tc>
                <a:extLst>
                  <a:ext uri="{0D108BD9-81ED-4DB2-BD59-A6C34878D82A}">
                    <a16:rowId xmlns:a16="http://schemas.microsoft.com/office/drawing/2014/main" val="10002"/>
                  </a:ext>
                </a:extLst>
              </a:tr>
              <a:tr h="343251">
                <a:tc vMerge="1">
                  <a:txBody>
                    <a:bodyPr/>
                    <a:lstStyle/>
                    <a:p>
                      <a:pPr>
                        <a:defRPr/>
                      </a:pPr>
                      <a:endParaRPr lang="en-US"/>
                    </a:p>
                  </a:txBody>
                  <a:tcPr anchor="ctr"/>
                </a:tc>
                <a:tc>
                  <a:txBody>
                    <a:bodyPr/>
                    <a:lstStyle/>
                    <a:p>
                      <a:pPr>
                        <a:defRPr/>
                      </a:pPr>
                      <a:r>
                        <a:rPr lang="en-US" b="0">
                          <a:latin typeface="Times New Roman"/>
                          <a:cs typeface="Times New Roman"/>
                        </a:rPr>
                        <a:t>Insect</a:t>
                      </a:r>
                      <a:endParaRPr/>
                    </a:p>
                  </a:txBody>
                  <a:tcPr anchor="ctr">
                    <a:solidFill>
                      <a:schemeClr val="bg1"/>
                    </a:solidFill>
                  </a:tcPr>
                </a:tc>
                <a:tc>
                  <a:txBody>
                    <a:bodyPr/>
                    <a:lstStyle/>
                    <a:p>
                      <a:pPr>
                        <a:defRPr/>
                      </a:pPr>
                      <a:r>
                        <a:rPr lang="en-US" b="0">
                          <a:latin typeface="Times New Roman"/>
                          <a:cs typeface="Times New Roman"/>
                        </a:rPr>
                        <a:t>0.9968</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0.9984</a:t>
                      </a:r>
                      <a:endParaRPr/>
                    </a:p>
                  </a:txBody>
                  <a:tcPr anchor="ctr">
                    <a:solidFill>
                      <a:schemeClr val="bg1"/>
                    </a:solidFill>
                  </a:tcPr>
                </a:tc>
                <a:tc>
                  <a:txBody>
                    <a:bodyPr/>
                    <a:lstStyle/>
                    <a:p>
                      <a:pPr>
                        <a:defRPr/>
                      </a:pPr>
                      <a:r>
                        <a:rPr lang="en-US" b="0">
                          <a:latin typeface="Times New Roman"/>
                          <a:cs typeface="Times New Roman"/>
                        </a:rPr>
                        <a:t>307</a:t>
                      </a:r>
                      <a:endParaRPr/>
                    </a:p>
                  </a:txBody>
                  <a:tcPr anchor="ctr">
                    <a:solidFill>
                      <a:schemeClr val="bg1"/>
                    </a:solidFill>
                  </a:tcPr>
                </a:tc>
                <a:extLst>
                  <a:ext uri="{0D108BD9-81ED-4DB2-BD59-A6C34878D82A}">
                    <a16:rowId xmlns:a16="http://schemas.microsoft.com/office/drawing/2014/main" val="10003"/>
                  </a:ext>
                </a:extLst>
              </a:tr>
              <a:tr h="343251">
                <a:tc vMerge="1">
                  <a:txBody>
                    <a:bodyPr/>
                    <a:lstStyle/>
                    <a:p>
                      <a:pPr>
                        <a:defRPr/>
                      </a:pPr>
                      <a:endParaRPr lang="en-US"/>
                    </a:p>
                  </a:txBody>
                  <a:tcPr anchor="ctr"/>
                </a:tc>
                <a:tc>
                  <a:txBody>
                    <a:bodyPr/>
                    <a:lstStyle/>
                    <a:p>
                      <a:pPr>
                        <a:defRPr/>
                      </a:pPr>
                      <a:r>
                        <a:rPr lang="en-US" b="0">
                          <a:latin typeface="Times New Roman"/>
                          <a:cs typeface="Times New Roman"/>
                        </a:rPr>
                        <a:t>Leaf Crinkle</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0.9934</a:t>
                      </a:r>
                      <a:endParaRPr/>
                    </a:p>
                  </a:txBody>
                  <a:tcPr anchor="ctr">
                    <a:solidFill>
                      <a:schemeClr val="bg1"/>
                    </a:solidFill>
                  </a:tcPr>
                </a:tc>
                <a:tc>
                  <a:txBody>
                    <a:bodyPr/>
                    <a:lstStyle/>
                    <a:p>
                      <a:pPr>
                        <a:defRPr/>
                      </a:pPr>
                      <a:r>
                        <a:rPr lang="en-US" b="0">
                          <a:latin typeface="Times New Roman"/>
                          <a:cs typeface="Times New Roman"/>
                        </a:rPr>
                        <a:t>0.9951</a:t>
                      </a:r>
                      <a:endParaRPr/>
                    </a:p>
                  </a:txBody>
                  <a:tcPr anchor="ctr">
                    <a:solidFill>
                      <a:schemeClr val="bg1"/>
                    </a:solidFill>
                  </a:tcPr>
                </a:tc>
                <a:tc>
                  <a:txBody>
                    <a:bodyPr/>
                    <a:lstStyle/>
                    <a:p>
                      <a:pPr>
                        <a:defRPr/>
                      </a:pPr>
                      <a:r>
                        <a:rPr lang="en-US" b="0">
                          <a:latin typeface="Times New Roman"/>
                          <a:cs typeface="Times New Roman"/>
                        </a:rPr>
                        <a:t>305</a:t>
                      </a:r>
                      <a:endParaRPr/>
                    </a:p>
                  </a:txBody>
                  <a:tcPr anchor="ctr">
                    <a:solidFill>
                      <a:schemeClr val="bg1"/>
                    </a:solidFill>
                  </a:tcPr>
                </a:tc>
                <a:extLst>
                  <a:ext uri="{0D108BD9-81ED-4DB2-BD59-A6C34878D82A}">
                    <a16:rowId xmlns:a16="http://schemas.microsoft.com/office/drawing/2014/main" val="10004"/>
                  </a:ext>
                </a:extLst>
              </a:tr>
              <a:tr h="343251">
                <a:tc vMerge="1">
                  <a:txBody>
                    <a:bodyPr/>
                    <a:lstStyle/>
                    <a:p>
                      <a:pPr>
                        <a:defRPr/>
                      </a:pPr>
                      <a:endParaRPr lang="en-US"/>
                    </a:p>
                  </a:txBody>
                  <a:tcPr anchor="ctr"/>
                </a:tc>
                <a:tc>
                  <a:txBody>
                    <a:bodyPr/>
                    <a:lstStyle/>
                    <a:p>
                      <a:pPr>
                        <a:defRPr/>
                      </a:pPr>
                      <a:r>
                        <a:rPr lang="en-US" b="0">
                          <a:latin typeface="Times New Roman"/>
                          <a:cs typeface="Times New Roman"/>
                        </a:rPr>
                        <a:t>Yellow Mosaic</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1.0000</a:t>
                      </a:r>
                      <a:endParaRPr/>
                    </a:p>
                  </a:txBody>
                  <a:tcPr anchor="ctr">
                    <a:solidFill>
                      <a:schemeClr val="bg1"/>
                    </a:solidFill>
                  </a:tcPr>
                </a:tc>
                <a:tc>
                  <a:txBody>
                    <a:bodyPr/>
                    <a:lstStyle/>
                    <a:p>
                      <a:pPr>
                        <a:defRPr/>
                      </a:pPr>
                      <a:r>
                        <a:rPr lang="en-US" b="0">
                          <a:latin typeface="Times New Roman"/>
                          <a:cs typeface="Times New Roman"/>
                        </a:rPr>
                        <a:t>300</a:t>
                      </a:r>
                      <a:endParaRPr/>
                    </a:p>
                  </a:txBody>
                  <a:tcPr anchor="ctr">
                    <a:solidFill>
                      <a:schemeClr val="bg1"/>
                    </a:solidFill>
                  </a:tcPr>
                </a:tc>
                <a:extLst>
                  <a:ext uri="{0D108BD9-81ED-4DB2-BD59-A6C34878D82A}">
                    <a16:rowId xmlns:a16="http://schemas.microsoft.com/office/drawing/2014/main" val="10005"/>
                  </a:ext>
                </a:extLst>
              </a:tr>
              <a:tr h="343251">
                <a:tc vMerge="1">
                  <a:txBody>
                    <a:bodyPr/>
                    <a:lstStyle/>
                    <a:p>
                      <a:pPr>
                        <a:defRPr/>
                      </a:pPr>
                      <a:endParaRPr lang="en-US"/>
                    </a:p>
                  </a:txBody>
                  <a:tcPr anchor="ctr"/>
                </a:tc>
                <a:tc>
                  <a:txBody>
                    <a:bodyPr/>
                    <a:lstStyle/>
                    <a:p>
                      <a:pPr>
                        <a:defRPr/>
                      </a:pPr>
                      <a:r>
                        <a:rPr lang="en-US" b="0">
                          <a:latin typeface="Times New Roman"/>
                          <a:cs typeface="Times New Roman"/>
                        </a:rPr>
                        <a:t>Accuracy</a:t>
                      </a:r>
                      <a:endParaRPr/>
                    </a:p>
                  </a:txBody>
                  <a:tcPr anchor="ctr">
                    <a:solidFill>
                      <a:schemeClr val="bg1"/>
                    </a:solidFill>
                  </a:tcPr>
                </a:tc>
                <a:tc>
                  <a:txBody>
                    <a:bodyPr/>
                    <a:lstStyle/>
                    <a:p>
                      <a:pPr>
                        <a:defRPr/>
                      </a:pPr>
                      <a:endParaRPr lang="en-US" b="0">
                        <a:latin typeface="Times New Roman"/>
                        <a:cs typeface="Times New Roman"/>
                      </a:endParaRPr>
                    </a:p>
                  </a:txBody>
                  <a:tcPr anchor="ctr">
                    <a:solidFill>
                      <a:schemeClr val="bg1"/>
                    </a:solidFill>
                  </a:tcPr>
                </a:tc>
                <a:tc>
                  <a:txBody>
                    <a:bodyPr/>
                    <a:lstStyle/>
                    <a:p>
                      <a:pPr>
                        <a:defRPr/>
                      </a:pPr>
                      <a:endParaRPr lang="en-US" b="0">
                        <a:latin typeface="Times New Roman"/>
                        <a:cs typeface="Times New Roman"/>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1519</a:t>
                      </a:r>
                      <a:endParaRPr/>
                    </a:p>
                  </a:txBody>
                  <a:tcPr anchor="ctr">
                    <a:solidFill>
                      <a:schemeClr val="bg1"/>
                    </a:solidFill>
                  </a:tcPr>
                </a:tc>
                <a:extLst>
                  <a:ext uri="{0D108BD9-81ED-4DB2-BD59-A6C34878D82A}">
                    <a16:rowId xmlns:a16="http://schemas.microsoft.com/office/drawing/2014/main" val="10006"/>
                  </a:ext>
                </a:extLst>
              </a:tr>
              <a:tr h="343251">
                <a:tc vMerge="1">
                  <a:txBody>
                    <a:bodyPr/>
                    <a:lstStyle/>
                    <a:p>
                      <a:pPr>
                        <a:defRPr/>
                      </a:pPr>
                      <a:endParaRPr lang="en-US"/>
                    </a:p>
                  </a:txBody>
                  <a:tcPr anchor="ctr"/>
                </a:tc>
                <a:tc>
                  <a:txBody>
                    <a:bodyPr/>
                    <a:lstStyle/>
                    <a:p>
                      <a:pPr>
                        <a:defRPr/>
                      </a:pPr>
                      <a:r>
                        <a:rPr lang="en-US" b="0">
                          <a:latin typeface="Times New Roman"/>
                          <a:cs typeface="Times New Roman"/>
                        </a:rPr>
                        <a:t>Macro Avg</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1519</a:t>
                      </a:r>
                      <a:endParaRPr/>
                    </a:p>
                  </a:txBody>
                  <a:tcPr anchor="ctr">
                    <a:solidFill>
                      <a:schemeClr val="bg1"/>
                    </a:solidFill>
                  </a:tcPr>
                </a:tc>
                <a:extLst>
                  <a:ext uri="{0D108BD9-81ED-4DB2-BD59-A6C34878D82A}">
                    <a16:rowId xmlns:a16="http://schemas.microsoft.com/office/drawing/2014/main" val="10007"/>
                  </a:ext>
                </a:extLst>
              </a:tr>
              <a:tr h="343251">
                <a:tc vMerge="1">
                  <a:txBody>
                    <a:bodyPr/>
                    <a:lstStyle/>
                    <a:p>
                      <a:pPr>
                        <a:defRPr/>
                      </a:pPr>
                      <a:endParaRPr lang="en-US"/>
                    </a:p>
                  </a:txBody>
                  <a:tcPr anchor="ctr"/>
                </a:tc>
                <a:tc>
                  <a:txBody>
                    <a:bodyPr/>
                    <a:lstStyle/>
                    <a:p>
                      <a:pPr>
                        <a:defRPr/>
                      </a:pPr>
                      <a:r>
                        <a:rPr lang="en-US" b="0">
                          <a:latin typeface="Times New Roman"/>
                          <a:cs typeface="Times New Roman"/>
                        </a:rPr>
                        <a:t>Weighted Avg</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a:latin typeface="Times New Roman"/>
                          <a:cs typeface="Times New Roman"/>
                        </a:rPr>
                        <a:t>0.9967</a:t>
                      </a:r>
                      <a:endParaRPr/>
                    </a:p>
                  </a:txBody>
                  <a:tcPr anchor="ctr">
                    <a:solidFill>
                      <a:schemeClr val="bg1"/>
                    </a:solidFill>
                  </a:tcPr>
                </a:tc>
                <a:tc>
                  <a:txBody>
                    <a:bodyPr/>
                    <a:lstStyle/>
                    <a:p>
                      <a:pPr>
                        <a:defRPr/>
                      </a:pPr>
                      <a:r>
                        <a:rPr lang="en-US" b="0" dirty="0">
                          <a:latin typeface="Times New Roman"/>
                          <a:cs typeface="Times New Roman"/>
                        </a:rPr>
                        <a:t>1519</a:t>
                      </a:r>
                      <a:endParaRPr dirty="0"/>
                    </a:p>
                  </a:txBody>
                  <a:tcPr anchor="ctr">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79225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11</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Table 2077459315">
            <a:extLst>
              <a:ext uri="{FF2B5EF4-FFF2-40B4-BE49-F238E27FC236}">
                <a16:creationId xmlns:a16="http://schemas.microsoft.com/office/drawing/2014/main" id="{1BFB6D71-8FE2-0960-0788-EE6BBE287CB8}"/>
              </a:ext>
            </a:extLst>
          </p:cNvPr>
          <p:cNvGraphicFramePr>
            <a:graphicFrameLocks/>
          </p:cNvGraphicFramePr>
          <p:nvPr/>
        </p:nvGraphicFramePr>
        <p:xfrm>
          <a:off x="1341120" y="2002536"/>
          <a:ext cx="8760440" cy="1106803"/>
        </p:xfrm>
        <a:graphic>
          <a:graphicData uri="http://schemas.openxmlformats.org/drawingml/2006/table">
            <a:tbl>
              <a:tblPr firstRow="1" firstCol="1" bandRow="1">
                <a:tableStyleId>{5C22544A-7EE6-4342-B048-85BDC9FD1C3A}</a:tableStyleId>
              </a:tblPr>
              <a:tblGrid>
                <a:gridCol w="1188720">
                  <a:extLst>
                    <a:ext uri="{9D8B030D-6E8A-4147-A177-3AD203B41FA5}">
                      <a16:colId xmlns:a16="http://schemas.microsoft.com/office/drawing/2014/main" val="20000"/>
                    </a:ext>
                  </a:extLst>
                </a:gridCol>
                <a:gridCol w="1261399">
                  <a:extLst>
                    <a:ext uri="{9D8B030D-6E8A-4147-A177-3AD203B41FA5}">
                      <a16:colId xmlns:a16="http://schemas.microsoft.com/office/drawing/2014/main" val="20001"/>
                    </a:ext>
                  </a:extLst>
                </a:gridCol>
                <a:gridCol w="1051720">
                  <a:extLst>
                    <a:ext uri="{9D8B030D-6E8A-4147-A177-3AD203B41FA5}">
                      <a16:colId xmlns:a16="http://schemas.microsoft.com/office/drawing/2014/main" val="20002"/>
                    </a:ext>
                  </a:extLst>
                </a:gridCol>
                <a:gridCol w="1051720">
                  <a:extLst>
                    <a:ext uri="{9D8B030D-6E8A-4147-A177-3AD203B41FA5}">
                      <a16:colId xmlns:a16="http://schemas.microsoft.com/office/drawing/2014/main" val="20003"/>
                    </a:ext>
                  </a:extLst>
                </a:gridCol>
                <a:gridCol w="1227007">
                  <a:extLst>
                    <a:ext uri="{9D8B030D-6E8A-4147-A177-3AD203B41FA5}">
                      <a16:colId xmlns:a16="http://schemas.microsoft.com/office/drawing/2014/main" val="20004"/>
                    </a:ext>
                  </a:extLst>
                </a:gridCol>
                <a:gridCol w="1314650">
                  <a:extLst>
                    <a:ext uri="{9D8B030D-6E8A-4147-A177-3AD203B41FA5}">
                      <a16:colId xmlns:a16="http://schemas.microsoft.com/office/drawing/2014/main" val="20005"/>
                    </a:ext>
                  </a:extLst>
                </a:gridCol>
                <a:gridCol w="1665224">
                  <a:extLst>
                    <a:ext uri="{9D8B030D-6E8A-4147-A177-3AD203B41FA5}">
                      <a16:colId xmlns:a16="http://schemas.microsoft.com/office/drawing/2014/main" val="20006"/>
                    </a:ext>
                  </a:extLst>
                </a:gridCol>
              </a:tblGrid>
              <a:tr h="275847">
                <a:tc>
                  <a:txBody>
                    <a:bodyPr/>
                    <a:lstStyle/>
                    <a:p>
                      <a:pPr algn="ctr">
                        <a:lnSpc>
                          <a:spcPct val="114999"/>
                        </a:lnSpc>
                        <a:spcAft>
                          <a:spcPts val="1199"/>
                        </a:spcAft>
                        <a:defRPr/>
                      </a:pPr>
                      <a:r>
                        <a:rPr b="1">
                          <a:solidFill>
                            <a:schemeClr val="bg1"/>
                          </a:solidFill>
                          <a:latin typeface="Century"/>
                          <a:ea typeface="Times New Roman"/>
                          <a:cs typeface="Times New Roman"/>
                        </a:rPr>
                        <a:t>Model</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Fold-1</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Fold-2</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Fold-3</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Fold-4</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Fold-5</a:t>
                      </a:r>
                      <a:endParaRPr b="1">
                        <a:solidFill>
                          <a:schemeClr val="bg1"/>
                        </a:solidFill>
                        <a:latin typeface="Century"/>
                      </a:endParaRPr>
                    </a:p>
                  </a:txBody>
                  <a:tcPr/>
                </a:tc>
                <a:tc>
                  <a:txBody>
                    <a:bodyPr/>
                    <a:lstStyle/>
                    <a:p>
                      <a:pPr algn="ctr">
                        <a:lnSpc>
                          <a:spcPct val="114999"/>
                        </a:lnSpc>
                        <a:spcAft>
                          <a:spcPts val="1199"/>
                        </a:spcAft>
                        <a:defRPr/>
                      </a:pPr>
                      <a:r>
                        <a:rPr b="1">
                          <a:solidFill>
                            <a:schemeClr val="bg1"/>
                          </a:solidFill>
                          <a:latin typeface="Century"/>
                          <a:ea typeface="Times New Roman"/>
                          <a:cs typeface="Times New Roman"/>
                        </a:rPr>
                        <a:t>Main Model</a:t>
                      </a:r>
                      <a:endParaRPr b="1">
                        <a:solidFill>
                          <a:schemeClr val="bg1"/>
                        </a:solidFill>
                        <a:latin typeface="Century"/>
                      </a:endParaRPr>
                    </a:p>
                  </a:txBody>
                  <a:tcPr/>
                </a:tc>
                <a:extLst>
                  <a:ext uri="{0D108BD9-81ED-4DB2-BD59-A6C34878D82A}">
                    <a16:rowId xmlns:a16="http://schemas.microsoft.com/office/drawing/2014/main" val="10000"/>
                  </a:ext>
                </a:extLst>
              </a:tr>
              <a:tr h="729486">
                <a:tc>
                  <a:txBody>
                    <a:bodyPr/>
                    <a:lstStyle/>
                    <a:p>
                      <a:pPr>
                        <a:lnSpc>
                          <a:spcPct val="114999"/>
                        </a:lnSpc>
                        <a:spcAft>
                          <a:spcPts val="1199"/>
                        </a:spcAft>
                        <a:defRPr/>
                      </a:pPr>
                      <a:r>
                        <a:rPr b="1">
                          <a:solidFill>
                            <a:schemeClr val="bg1"/>
                          </a:solidFill>
                          <a:latin typeface="Century"/>
                          <a:ea typeface="Times New Roman"/>
                          <a:cs typeface="Times New Roman"/>
                        </a:rPr>
                        <a:t>Accuracy</a:t>
                      </a:r>
                      <a:endParaRPr b="1">
                        <a:solidFill>
                          <a:schemeClr val="bg1"/>
                        </a:solidFill>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99.34%</a:t>
                      </a:r>
                      <a:endParaRPr>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99.01%</a:t>
                      </a:r>
                      <a:endParaRPr>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99.26%</a:t>
                      </a:r>
                      <a:endParaRPr>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99.18%</a:t>
                      </a:r>
                      <a:endParaRPr>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99.34%</a:t>
                      </a:r>
                      <a:endParaRPr>
                        <a:latin typeface="Century"/>
                      </a:endParaRPr>
                    </a:p>
                  </a:txBody>
                  <a:tcPr/>
                </a:tc>
                <a:tc>
                  <a:txBody>
                    <a:bodyPr/>
                    <a:lstStyle/>
                    <a:p>
                      <a:pPr>
                        <a:lnSpc>
                          <a:spcPct val="114999"/>
                        </a:lnSpc>
                        <a:spcAft>
                          <a:spcPts val="1199"/>
                        </a:spcAft>
                        <a:defRPr/>
                      </a:pPr>
                      <a:r>
                        <a:rPr>
                          <a:solidFill>
                            <a:srgbClr val="000000"/>
                          </a:solidFill>
                          <a:latin typeface="Century"/>
                          <a:ea typeface="Times New Roman"/>
                          <a:cs typeface="Times New Roman"/>
                        </a:rPr>
                        <a:t>99.67%</a:t>
                      </a:r>
                      <a:endParaRPr>
                        <a:latin typeface="Century"/>
                      </a:endParaRPr>
                    </a:p>
                  </a:txBody>
                  <a:tcPr/>
                </a:tc>
                <a:extLst>
                  <a:ext uri="{0D108BD9-81ED-4DB2-BD59-A6C34878D82A}">
                    <a16:rowId xmlns:a16="http://schemas.microsoft.com/office/drawing/2014/main" val="10001"/>
                  </a:ext>
                </a:extLst>
              </a:tr>
            </a:tbl>
          </a:graphicData>
        </a:graphic>
      </p:graphicFrame>
      <p:sp>
        <p:nvSpPr>
          <p:cNvPr id="6" name="TextBox 1008459633">
            <a:extLst>
              <a:ext uri="{FF2B5EF4-FFF2-40B4-BE49-F238E27FC236}">
                <a16:creationId xmlns:a16="http://schemas.microsoft.com/office/drawing/2014/main" id="{4D3060DA-CB29-ABC4-2F5C-35865730AEDE}"/>
              </a:ext>
            </a:extLst>
          </p:cNvPr>
          <p:cNvSpPr txBox="1"/>
          <p:nvPr/>
        </p:nvSpPr>
        <p:spPr bwMode="auto">
          <a:xfrm>
            <a:off x="1162557" y="1220259"/>
            <a:ext cx="6244729"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spcBef>
                <a:spcPts val="1199"/>
              </a:spcBef>
              <a:spcAft>
                <a:spcPts val="1199"/>
              </a:spcAft>
              <a:defRPr/>
            </a:pPr>
            <a:r>
              <a:rPr b="1">
                <a:latin typeface="Century"/>
              </a:rPr>
              <a:t>Cross Validation Result Of Ensemble Model:</a:t>
            </a:r>
            <a:endParaRPr/>
          </a:p>
        </p:txBody>
      </p:sp>
      <p:sp>
        <p:nvSpPr>
          <p:cNvPr id="7" name="TextBox 2">
            <a:extLst>
              <a:ext uri="{FF2B5EF4-FFF2-40B4-BE49-F238E27FC236}">
                <a16:creationId xmlns:a16="http://schemas.microsoft.com/office/drawing/2014/main" id="{C26FE628-387B-DF5C-02E8-D11257D9E705}"/>
              </a:ext>
            </a:extLst>
          </p:cNvPr>
          <p:cNvSpPr txBox="1"/>
          <p:nvPr/>
        </p:nvSpPr>
        <p:spPr bwMode="auto">
          <a:xfrm>
            <a:off x="1338072" y="3633062"/>
            <a:ext cx="9512808" cy="1704569"/>
          </a:xfrm>
          <a:prstGeom prst="rect">
            <a:avLst/>
          </a:prstGeom>
          <a:noFill/>
        </p:spPr>
        <p:txBody>
          <a:bodyPr wrap="square">
            <a:spAutoFit/>
          </a:bodyPr>
          <a:lstStyle/>
          <a:p>
            <a:pPr marL="285750" indent="-285750">
              <a:lnSpc>
                <a:spcPct val="150000"/>
              </a:lnSpc>
              <a:buFont typeface="Arial"/>
              <a:buChar char="•"/>
              <a:defRPr/>
            </a:pPr>
            <a:r>
              <a:rPr lang="en-US">
                <a:latin typeface="Times New Roman"/>
                <a:cs typeface="Times New Roman"/>
              </a:rPr>
              <a:t>The cross-validation results of the ensemble model show highly stable performance, with accuracy ranging from 99.01% to 99.34% across all five folds.</a:t>
            </a:r>
            <a:endParaRPr/>
          </a:p>
          <a:p>
            <a:pPr marL="285750" indent="-285750">
              <a:lnSpc>
                <a:spcPct val="150000"/>
              </a:lnSpc>
              <a:buFont typeface="Arial"/>
              <a:buChar char="•"/>
              <a:defRPr/>
            </a:pPr>
            <a:r>
              <a:rPr lang="en-US">
                <a:latin typeface="Times New Roman"/>
                <a:cs typeface="Times New Roman"/>
              </a:rPr>
              <a:t>The final main model accuracy of 99.67% indicates that the ensemble approach further enhanced the overall effectiveness of the model.</a:t>
            </a:r>
            <a:endParaRPr/>
          </a:p>
        </p:txBody>
      </p:sp>
    </p:spTree>
    <p:extLst>
      <p:ext uri="{BB962C8B-B14F-4D97-AF65-F5344CB8AC3E}">
        <p14:creationId xmlns:p14="http://schemas.microsoft.com/office/powerpoint/2010/main" val="2730405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12</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3" name="Picture 1372002534">
            <a:extLst>
              <a:ext uri="{FF2B5EF4-FFF2-40B4-BE49-F238E27FC236}">
                <a16:creationId xmlns:a16="http://schemas.microsoft.com/office/drawing/2014/main" id="{0B46B595-EE2F-04B7-49C2-41A3AD067F28}"/>
              </a:ext>
            </a:extLst>
          </p:cNvPr>
          <p:cNvPicPr>
            <a:picLocks noChangeAspect="1"/>
          </p:cNvPicPr>
          <p:nvPr/>
        </p:nvPicPr>
        <p:blipFill rotWithShape="1">
          <a:blip r:embed="rId2"/>
          <a:srcRect t="8867"/>
          <a:stretch/>
        </p:blipFill>
        <p:spPr bwMode="auto">
          <a:xfrm>
            <a:off x="6278161" y="1645920"/>
            <a:ext cx="4864718" cy="3901441"/>
          </a:xfrm>
          <a:prstGeom prst="rect">
            <a:avLst/>
          </a:prstGeom>
          <a:ln>
            <a:noFill/>
          </a:ln>
        </p:spPr>
      </p:pic>
      <p:sp>
        <p:nvSpPr>
          <p:cNvPr id="6" name=" 966213725">
            <a:extLst>
              <a:ext uri="{FF2B5EF4-FFF2-40B4-BE49-F238E27FC236}">
                <a16:creationId xmlns:a16="http://schemas.microsoft.com/office/drawing/2014/main" id="{DE3119FE-2858-23D0-1ABD-0F0563B9386F}"/>
              </a:ext>
            </a:extLst>
          </p:cNvPr>
          <p:cNvSpPr/>
          <p:nvPr/>
        </p:nvSpPr>
        <p:spPr bwMode="auto">
          <a:xfrm>
            <a:off x="643846" y="2121408"/>
            <a:ext cx="5452153" cy="1517904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defRPr/>
            </a:pPr>
            <a:r>
              <a:rPr sz="1600" i="0" u="none">
                <a:solidFill>
                  <a:srgbClr val="000000"/>
                </a:solidFill>
                <a:latin typeface="Times New Roman"/>
                <a:ea typeface="Times New Roman"/>
                <a:cs typeface="Times New Roman"/>
              </a:rPr>
              <a:t>The diagonal dominance in the matrix indicates that the model correctly classifies the majority of samples for each class.</a:t>
            </a:r>
            <a:endParaRPr sz="1600">
              <a:latin typeface="Times New Roman"/>
              <a:cs typeface="Times New Roman"/>
            </a:endParaRPr>
          </a:p>
          <a:p>
            <a:pPr marL="285750" indent="-285750" algn="just">
              <a:buFont typeface="Arial"/>
              <a:buChar char="•"/>
              <a:defRPr/>
            </a:pPr>
            <a:r>
              <a:rPr sz="1600" i="0" u="none">
                <a:solidFill>
                  <a:srgbClr val="000000"/>
                </a:solidFill>
                <a:latin typeface="Times New Roman"/>
                <a:ea typeface="Times New Roman"/>
                <a:cs typeface="Times New Roman"/>
              </a:rPr>
              <a:t>Misclassifications are extremely low (only 1 or 2 samples), showing the model’s high precision and recall.</a:t>
            </a:r>
            <a:endParaRPr sz="1600">
              <a:latin typeface="Times New Roman"/>
              <a:cs typeface="Times New Roman"/>
            </a:endParaRPr>
          </a:p>
          <a:p>
            <a:pPr marL="285750" indent="-285750" algn="just">
              <a:buFont typeface="Arial"/>
              <a:buChar char="•"/>
              <a:defRPr/>
            </a:pPr>
            <a:r>
              <a:rPr sz="1600" i="0" u="none">
                <a:solidFill>
                  <a:srgbClr val="000000"/>
                </a:solidFill>
                <a:latin typeface="Times New Roman"/>
                <a:ea typeface="Times New Roman"/>
                <a:cs typeface="Times New Roman"/>
              </a:rPr>
              <a:t>Diseases such as </a:t>
            </a:r>
            <a:r>
              <a:rPr sz="1600" i="1" u="none">
                <a:solidFill>
                  <a:srgbClr val="000000"/>
                </a:solidFill>
                <a:latin typeface="Times New Roman"/>
                <a:ea typeface="Times New Roman"/>
                <a:cs typeface="Times New Roman"/>
              </a:rPr>
              <a:t>Cercospora Leaf Spot</a:t>
            </a:r>
            <a:r>
              <a:rPr sz="1600" i="0" u="none">
                <a:solidFill>
                  <a:srgbClr val="000000"/>
                </a:solidFill>
                <a:latin typeface="Times New Roman"/>
                <a:ea typeface="Times New Roman"/>
                <a:cs typeface="Times New Roman"/>
              </a:rPr>
              <a:t>, </a:t>
            </a:r>
            <a:r>
              <a:rPr sz="1600" i="1" u="none">
                <a:solidFill>
                  <a:srgbClr val="000000"/>
                </a:solidFill>
                <a:latin typeface="Times New Roman"/>
                <a:ea typeface="Times New Roman"/>
                <a:cs typeface="Times New Roman"/>
              </a:rPr>
              <a:t>Insect Damage</a:t>
            </a:r>
            <a:r>
              <a:rPr sz="1600" i="0" u="none">
                <a:solidFill>
                  <a:srgbClr val="000000"/>
                </a:solidFill>
                <a:latin typeface="Times New Roman"/>
                <a:ea typeface="Times New Roman"/>
                <a:cs typeface="Times New Roman"/>
              </a:rPr>
              <a:t>, </a:t>
            </a:r>
            <a:r>
              <a:rPr sz="1600" i="1" u="none">
                <a:solidFill>
                  <a:srgbClr val="000000"/>
                </a:solidFill>
                <a:latin typeface="Times New Roman"/>
                <a:ea typeface="Times New Roman"/>
                <a:cs typeface="Times New Roman"/>
              </a:rPr>
              <a:t>Leaf Crinkle</a:t>
            </a:r>
            <a:r>
              <a:rPr sz="1600" i="0" u="none">
                <a:solidFill>
                  <a:srgbClr val="000000"/>
                </a:solidFill>
                <a:latin typeface="Times New Roman"/>
                <a:ea typeface="Times New Roman"/>
                <a:cs typeface="Times New Roman"/>
              </a:rPr>
              <a:t>, and </a:t>
            </a:r>
            <a:r>
              <a:rPr sz="1600" i="1" u="none">
                <a:solidFill>
                  <a:srgbClr val="000000"/>
                </a:solidFill>
                <a:latin typeface="Times New Roman"/>
                <a:ea typeface="Times New Roman"/>
                <a:cs typeface="Times New Roman"/>
              </a:rPr>
              <a:t>Yellow Mosaic</a:t>
            </a:r>
            <a:r>
              <a:rPr sz="1600" i="0" u="none">
                <a:solidFill>
                  <a:srgbClr val="000000"/>
                </a:solidFill>
                <a:latin typeface="Times New Roman"/>
                <a:ea typeface="Times New Roman"/>
                <a:cs typeface="Times New Roman"/>
              </a:rPr>
              <a:t> show almost 100% correct predictions.</a:t>
            </a:r>
            <a:endParaRPr sz="1600">
              <a:latin typeface="Times New Roman"/>
              <a:cs typeface="Times New Roman"/>
            </a:endParaRPr>
          </a:p>
          <a:p>
            <a:pPr marL="285750" indent="-285750" algn="just">
              <a:buFont typeface="Arial"/>
              <a:buChar char="•"/>
              <a:defRPr/>
            </a:pPr>
            <a:r>
              <a:rPr sz="1600" i="0" u="none">
                <a:solidFill>
                  <a:srgbClr val="000000"/>
                </a:solidFill>
                <a:latin typeface="Times New Roman"/>
                <a:ea typeface="Times New Roman"/>
                <a:cs typeface="Times New Roman"/>
              </a:rPr>
              <a:t>Overall, the model demonstrates excellent generalization and reliable class separation across all categories.</a:t>
            </a:r>
            <a:endParaRPr sz="1600">
              <a:latin typeface="Times New Roman"/>
              <a:cs typeface="Times New Roman"/>
            </a:endParaRPr>
          </a:p>
        </p:txBody>
      </p:sp>
      <p:sp>
        <p:nvSpPr>
          <p:cNvPr id="7" name="TextBox 2">
            <a:extLst>
              <a:ext uri="{FF2B5EF4-FFF2-40B4-BE49-F238E27FC236}">
                <a16:creationId xmlns:a16="http://schemas.microsoft.com/office/drawing/2014/main" id="{B4B37D9E-4641-62FF-4A25-F0AECD4807FB}"/>
              </a:ext>
            </a:extLst>
          </p:cNvPr>
          <p:cNvSpPr txBox="1"/>
          <p:nvPr/>
        </p:nvSpPr>
        <p:spPr bwMode="auto">
          <a:xfrm>
            <a:off x="746759" y="1447536"/>
            <a:ext cx="6126840" cy="366119"/>
          </a:xfrm>
          <a:prstGeom prst="rect">
            <a:avLst/>
          </a:prstGeom>
          <a:noFill/>
        </p:spPr>
        <p:txBody>
          <a:bodyPr wrap="square">
            <a:spAutoFit/>
          </a:bodyPr>
          <a:lstStyle/>
          <a:p>
            <a:pPr>
              <a:defRPr/>
            </a:pPr>
            <a:r>
              <a:rPr lang="en-US" sz="1800" b="1" i="0" u="none" strike="noStrike" cap="none" spc="0">
                <a:solidFill>
                  <a:schemeClr val="tx1"/>
                </a:solidFill>
                <a:latin typeface="Times New Romanm"/>
                <a:ea typeface="Times New Romanm"/>
                <a:cs typeface="Times New Romanm"/>
              </a:rPr>
              <a:t> Confusion Matrix</a:t>
            </a:r>
            <a:r>
              <a:rPr lang="en-US" b="1">
                <a:latin typeface="Times New Romanm"/>
                <a:ea typeface="Times New Romanm"/>
                <a:cs typeface="Times New Romanm"/>
              </a:rPr>
              <a:t> of  Ensemble Model</a:t>
            </a:r>
            <a:endParaRPr b="1">
              <a:latin typeface="Times New Romanm"/>
              <a:cs typeface="Times New Romanm"/>
            </a:endParaRPr>
          </a:p>
        </p:txBody>
      </p:sp>
    </p:spTree>
    <p:extLst>
      <p:ext uri="{BB962C8B-B14F-4D97-AF65-F5344CB8AC3E}">
        <p14:creationId xmlns:p14="http://schemas.microsoft.com/office/powerpoint/2010/main" val="264728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13</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3" name="Picture 915719095">
            <a:extLst>
              <a:ext uri="{FF2B5EF4-FFF2-40B4-BE49-F238E27FC236}">
                <a16:creationId xmlns:a16="http://schemas.microsoft.com/office/drawing/2014/main" id="{B0C9AC92-0EBF-F407-C0F4-C15EC014D79C}"/>
              </a:ext>
            </a:extLst>
          </p:cNvPr>
          <p:cNvPicPr>
            <a:picLocks noChangeAspect="1"/>
          </p:cNvPicPr>
          <p:nvPr/>
        </p:nvPicPr>
        <p:blipFill rotWithShape="1">
          <a:blip r:embed="rId2"/>
          <a:stretch/>
        </p:blipFill>
        <p:spPr bwMode="auto">
          <a:xfrm>
            <a:off x="2154539" y="1564094"/>
            <a:ext cx="7882919" cy="2604349"/>
          </a:xfrm>
          <a:prstGeom prst="rect">
            <a:avLst/>
          </a:prstGeom>
        </p:spPr>
      </p:pic>
      <p:sp>
        <p:nvSpPr>
          <p:cNvPr id="6" name="TextBox 2">
            <a:extLst>
              <a:ext uri="{FF2B5EF4-FFF2-40B4-BE49-F238E27FC236}">
                <a16:creationId xmlns:a16="http://schemas.microsoft.com/office/drawing/2014/main" id="{3E07B982-1CDE-C3BF-25D1-2251F56871C8}"/>
              </a:ext>
            </a:extLst>
          </p:cNvPr>
          <p:cNvSpPr txBox="1"/>
          <p:nvPr/>
        </p:nvSpPr>
        <p:spPr bwMode="auto">
          <a:xfrm>
            <a:off x="1697736" y="4308736"/>
            <a:ext cx="9071638" cy="1815882"/>
          </a:xfrm>
          <a:prstGeom prst="rect">
            <a:avLst/>
          </a:prstGeom>
          <a:noFill/>
        </p:spPr>
        <p:txBody>
          <a:bodyPr wrap="square">
            <a:spAutoFit/>
          </a:bodyPr>
          <a:lstStyle/>
          <a:p>
            <a:pPr marL="285750" indent="-285750" algn="just">
              <a:buFont typeface="Arial"/>
              <a:buChar char="•"/>
              <a:defRPr/>
            </a:pPr>
            <a:r>
              <a:rPr lang="en-US" sz="1600" i="0" u="none">
                <a:solidFill>
                  <a:srgbClr val="000000"/>
                </a:solidFill>
                <a:latin typeface="Times New Roman"/>
                <a:ea typeface="Times New Roman"/>
                <a:cs typeface="Times New Roman"/>
              </a:rPr>
              <a:t>The model achieves rapid improvement in accuracy during the first few epochs, followed by stable convergence.</a:t>
            </a:r>
            <a:endParaRPr lang="en-US" sz="1600">
              <a:latin typeface="Times New Roman"/>
              <a:cs typeface="Times New Roman"/>
            </a:endParaRPr>
          </a:p>
          <a:p>
            <a:pPr marL="285750" indent="-285750" algn="just">
              <a:buFont typeface="Arial"/>
              <a:buChar char="•"/>
              <a:defRPr/>
            </a:pPr>
            <a:r>
              <a:rPr lang="en-US" sz="1600" i="0" u="none">
                <a:solidFill>
                  <a:srgbClr val="000000"/>
                </a:solidFill>
                <a:latin typeface="Times New Roman"/>
                <a:ea typeface="Times New Roman"/>
                <a:cs typeface="Times New Roman"/>
              </a:rPr>
              <a:t>Validation accuracy closely follows the training curve, which indicates strong generalization capability.</a:t>
            </a:r>
            <a:endParaRPr lang="en-US" sz="1600">
              <a:latin typeface="Times New Roman"/>
              <a:cs typeface="Times New Roman"/>
            </a:endParaRPr>
          </a:p>
          <a:p>
            <a:pPr marL="285750" indent="-285750" algn="just">
              <a:buFont typeface="Arial"/>
              <a:buChar char="•"/>
              <a:defRPr/>
            </a:pPr>
            <a:r>
              <a:rPr lang="en-US" sz="1600" i="0" u="none">
                <a:solidFill>
                  <a:srgbClr val="000000"/>
                </a:solidFill>
                <a:latin typeface="Times New Roman"/>
                <a:ea typeface="Times New Roman"/>
                <a:cs typeface="Times New Roman"/>
              </a:rPr>
              <a:t>Training and validation loss show a steep decline early on, continuing to reduce gradually and stabilizing at a low value.</a:t>
            </a:r>
            <a:endParaRPr lang="en-US" sz="1600">
              <a:latin typeface="Times New Roman"/>
              <a:cs typeface="Times New Roman"/>
            </a:endParaRPr>
          </a:p>
          <a:p>
            <a:pPr marL="285750" indent="-285750" algn="just">
              <a:buFont typeface="Arial"/>
              <a:buChar char="•"/>
              <a:defRPr/>
            </a:pPr>
            <a:r>
              <a:rPr lang="en-US" sz="1600" i="0" u="none">
                <a:solidFill>
                  <a:srgbClr val="000000"/>
                </a:solidFill>
                <a:latin typeface="Times New Roman"/>
                <a:ea typeface="Times New Roman"/>
                <a:cs typeface="Times New Roman"/>
              </a:rPr>
              <a:t>The absence of divergence between the curves suggests that the model is not overfitting and has learned the feature space effectively.</a:t>
            </a:r>
            <a:endParaRPr lang="en-US" sz="1600">
              <a:latin typeface="Times New Roman"/>
              <a:cs typeface="Times New Roman"/>
            </a:endParaRPr>
          </a:p>
        </p:txBody>
      </p:sp>
      <p:sp>
        <p:nvSpPr>
          <p:cNvPr id="7" name="TextBox 4">
            <a:extLst>
              <a:ext uri="{FF2B5EF4-FFF2-40B4-BE49-F238E27FC236}">
                <a16:creationId xmlns:a16="http://schemas.microsoft.com/office/drawing/2014/main" id="{E9F95796-DB01-6C98-81E1-3C439294BEC3}"/>
              </a:ext>
            </a:extLst>
          </p:cNvPr>
          <p:cNvSpPr txBox="1"/>
          <p:nvPr/>
        </p:nvSpPr>
        <p:spPr bwMode="auto">
          <a:xfrm>
            <a:off x="984503" y="1085244"/>
            <a:ext cx="7013808" cy="366119"/>
          </a:xfrm>
          <a:prstGeom prst="rect">
            <a:avLst/>
          </a:prstGeom>
          <a:noFill/>
        </p:spPr>
        <p:txBody>
          <a:bodyPr wrap="square">
            <a:spAutoFit/>
          </a:bodyPr>
          <a:lstStyle/>
          <a:p>
            <a:pPr>
              <a:defRPr/>
            </a:pPr>
            <a:r>
              <a:rPr lang="en-US" sz="1800" b="1" i="0" u="none" strike="noStrike" cap="none" spc="0">
                <a:solidFill>
                  <a:schemeClr val="tx1"/>
                </a:solidFill>
                <a:latin typeface="Times New Romanm"/>
                <a:ea typeface="Times New Romanm"/>
                <a:cs typeface="Times New Romanm"/>
              </a:rPr>
              <a:t>Training and Validation Accuracy &amp; Loss </a:t>
            </a:r>
            <a:r>
              <a:rPr lang="en-US" b="1">
                <a:latin typeface="Times New Romanm"/>
                <a:ea typeface="Times New Romanm"/>
                <a:cs typeface="Times New Romanm"/>
              </a:rPr>
              <a:t>of Ensemble Model</a:t>
            </a:r>
            <a:endParaRPr b="1">
              <a:latin typeface="Times New Romanm"/>
              <a:cs typeface="Times New Romanm"/>
            </a:endParaRPr>
          </a:p>
        </p:txBody>
      </p:sp>
    </p:spTree>
    <p:extLst>
      <p:ext uri="{BB962C8B-B14F-4D97-AF65-F5344CB8AC3E}">
        <p14:creationId xmlns:p14="http://schemas.microsoft.com/office/powerpoint/2010/main" val="1365696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14</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3" name="Picture 1759268529">
            <a:extLst>
              <a:ext uri="{FF2B5EF4-FFF2-40B4-BE49-F238E27FC236}">
                <a16:creationId xmlns:a16="http://schemas.microsoft.com/office/drawing/2014/main" id="{A70BC343-9EDC-EDB5-58B0-512FB5C3D5D7}"/>
              </a:ext>
            </a:extLst>
          </p:cNvPr>
          <p:cNvPicPr>
            <a:picLocks noChangeAspect="1"/>
          </p:cNvPicPr>
          <p:nvPr/>
        </p:nvPicPr>
        <p:blipFill rotWithShape="1">
          <a:blip r:embed="rId2"/>
          <a:stretch/>
        </p:blipFill>
        <p:spPr bwMode="auto">
          <a:xfrm>
            <a:off x="6809232" y="1645920"/>
            <a:ext cx="4708698" cy="3731589"/>
          </a:xfrm>
          <a:prstGeom prst="rect">
            <a:avLst/>
          </a:prstGeom>
        </p:spPr>
      </p:pic>
      <p:sp>
        <p:nvSpPr>
          <p:cNvPr id="6" name="TextBox 2">
            <a:extLst>
              <a:ext uri="{FF2B5EF4-FFF2-40B4-BE49-F238E27FC236}">
                <a16:creationId xmlns:a16="http://schemas.microsoft.com/office/drawing/2014/main" id="{018E8106-0BF1-2387-6FA7-6875F8DDF464}"/>
              </a:ext>
            </a:extLst>
          </p:cNvPr>
          <p:cNvSpPr txBox="1"/>
          <p:nvPr/>
        </p:nvSpPr>
        <p:spPr bwMode="auto">
          <a:xfrm>
            <a:off x="509016" y="2010341"/>
            <a:ext cx="6126480" cy="3002745"/>
          </a:xfrm>
          <a:prstGeom prst="rect">
            <a:avLst/>
          </a:prstGeom>
          <a:noFill/>
        </p:spPr>
        <p:txBody>
          <a:bodyPr wrap="square">
            <a:spAutoFit/>
          </a:bodyPr>
          <a:lstStyle/>
          <a:p>
            <a:pPr marL="285750" indent="-285750" algn="just">
              <a:lnSpc>
                <a:spcPct val="150000"/>
              </a:lnSpc>
              <a:buFont typeface="Arial"/>
              <a:buChar char="•"/>
              <a:defRPr/>
            </a:pPr>
            <a:r>
              <a:rPr lang="en-US" sz="1600" i="0" u="none">
                <a:solidFill>
                  <a:srgbClr val="000000"/>
                </a:solidFill>
                <a:latin typeface="Times New Roman"/>
                <a:ea typeface="Times New Roman"/>
                <a:cs typeface="Times New Roman"/>
              </a:rPr>
              <a:t>The ROC curves of all five classes almost perfectly align with the top-left boundary, leading to an AUC of 1.00 for each class.</a:t>
            </a:r>
            <a:endParaRPr lang="en-US" sz="1600">
              <a:latin typeface="Times New Roman"/>
              <a:cs typeface="Times New Roman"/>
            </a:endParaRPr>
          </a:p>
          <a:p>
            <a:pPr marL="285750" indent="-285750" algn="just">
              <a:lnSpc>
                <a:spcPct val="150000"/>
              </a:lnSpc>
              <a:buFont typeface="Arial"/>
              <a:buChar char="•"/>
              <a:defRPr/>
            </a:pPr>
            <a:r>
              <a:rPr lang="en-US" sz="1600" i="0" u="none">
                <a:solidFill>
                  <a:srgbClr val="000000"/>
                </a:solidFill>
                <a:latin typeface="Times New Roman"/>
                <a:ea typeface="Times New Roman"/>
                <a:cs typeface="Times New Roman"/>
              </a:rPr>
              <a:t>Such performance indicates perfect discrimination, where the model consistently classifies positive and negative samples correctly.</a:t>
            </a:r>
            <a:endParaRPr lang="en-US" sz="1600">
              <a:latin typeface="Times New Roman"/>
              <a:cs typeface="Times New Roman"/>
            </a:endParaRPr>
          </a:p>
          <a:p>
            <a:pPr marL="285750" indent="-285750" algn="just">
              <a:lnSpc>
                <a:spcPct val="150000"/>
              </a:lnSpc>
              <a:buFont typeface="Arial"/>
              <a:buChar char="•"/>
              <a:defRPr/>
            </a:pPr>
            <a:r>
              <a:rPr lang="en-US" sz="1600" i="0" u="none">
                <a:solidFill>
                  <a:srgbClr val="000000"/>
                </a:solidFill>
                <a:latin typeface="Times New Roman"/>
                <a:ea typeface="Times New Roman"/>
                <a:cs typeface="Times New Roman"/>
              </a:rPr>
              <a:t>The absence of deviation from the ideal ROC line confirms high sensitivity, specificity, and generalization strength.</a:t>
            </a:r>
            <a:endParaRPr lang="en-US" sz="1600">
              <a:latin typeface="Times New Roman"/>
              <a:cs typeface="Times New Roman"/>
            </a:endParaRPr>
          </a:p>
          <a:p>
            <a:pPr marL="285750" indent="-285750" algn="just">
              <a:lnSpc>
                <a:spcPct val="150000"/>
              </a:lnSpc>
              <a:buFont typeface="Arial"/>
              <a:buChar char="•"/>
              <a:defRPr/>
            </a:pPr>
            <a:r>
              <a:rPr lang="en-US" sz="1600" i="0" u="none">
                <a:solidFill>
                  <a:srgbClr val="000000"/>
                </a:solidFill>
                <a:latin typeface="Times New Roman"/>
                <a:ea typeface="Times New Roman"/>
                <a:cs typeface="Times New Roman"/>
              </a:rPr>
              <a:t>This level of performance suggests that the learned features are highly reliable for disease detection.</a:t>
            </a:r>
            <a:endParaRPr lang="en-US" sz="1600">
              <a:latin typeface="Times New Roman"/>
              <a:cs typeface="Times New Roman"/>
            </a:endParaRPr>
          </a:p>
        </p:txBody>
      </p:sp>
      <p:sp>
        <p:nvSpPr>
          <p:cNvPr id="7" name="TextBox 4">
            <a:extLst>
              <a:ext uri="{FF2B5EF4-FFF2-40B4-BE49-F238E27FC236}">
                <a16:creationId xmlns:a16="http://schemas.microsoft.com/office/drawing/2014/main" id="{DFB0756C-2537-D676-9CD9-FA3E2760768D}"/>
              </a:ext>
            </a:extLst>
          </p:cNvPr>
          <p:cNvSpPr txBox="1"/>
          <p:nvPr/>
        </p:nvSpPr>
        <p:spPr bwMode="auto">
          <a:xfrm>
            <a:off x="734567" y="1240011"/>
            <a:ext cx="6126840" cy="366119"/>
          </a:xfrm>
          <a:prstGeom prst="rect">
            <a:avLst/>
          </a:prstGeom>
          <a:noFill/>
        </p:spPr>
        <p:txBody>
          <a:bodyPr wrap="square">
            <a:spAutoFit/>
          </a:bodyPr>
          <a:lstStyle/>
          <a:p>
            <a:pPr>
              <a:defRPr/>
            </a:pPr>
            <a:r>
              <a:rPr lang="en-US" b="1">
                <a:latin typeface="Times New Romanm"/>
                <a:ea typeface="Times New Romanm"/>
                <a:cs typeface="Times New Romanm"/>
              </a:rPr>
              <a:t>Roc Curve of  Ensemble Model</a:t>
            </a:r>
            <a:endParaRPr b="1">
              <a:latin typeface="Times New Romanm"/>
              <a:cs typeface="Times New Romanm"/>
            </a:endParaRPr>
          </a:p>
        </p:txBody>
      </p:sp>
    </p:spTree>
    <p:extLst>
      <p:ext uri="{BB962C8B-B14F-4D97-AF65-F5344CB8AC3E}">
        <p14:creationId xmlns:p14="http://schemas.microsoft.com/office/powerpoint/2010/main" val="18935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sp>
        <p:nvSpPr>
          <p:cNvPr id="4" name="Slide Number Placeholder 3">
            <a:extLst>
              <a:ext uri="{FF2B5EF4-FFF2-40B4-BE49-F238E27FC236}">
                <a16:creationId xmlns:a16="http://schemas.microsoft.com/office/drawing/2014/main" id="{1E154D71-E901-049B-93F8-CAD5BC299B06}"/>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15</a:t>
            </a:fld>
            <a:endParaRPr lang="en-US" dirty="0"/>
          </a:p>
        </p:txBody>
      </p:sp>
      <p:sp>
        <p:nvSpPr>
          <p:cNvPr id="3" name="TextBox 2">
            <a:extLst>
              <a:ext uri="{FF2B5EF4-FFF2-40B4-BE49-F238E27FC236}">
                <a16:creationId xmlns:a16="http://schemas.microsoft.com/office/drawing/2014/main" id="{BD882494-1CF7-C6C6-FB3F-1E5CF30DAEE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5" name="TextBox 5">
            <a:extLst>
              <a:ext uri="{FF2B5EF4-FFF2-40B4-BE49-F238E27FC236}">
                <a16:creationId xmlns:a16="http://schemas.microsoft.com/office/drawing/2014/main" id="{8EC911CE-19E0-C2BB-4D82-CB9EDFFCA557}"/>
              </a:ext>
            </a:extLst>
          </p:cNvPr>
          <p:cNvSpPr txBox="1"/>
          <p:nvPr/>
        </p:nvSpPr>
        <p:spPr bwMode="auto">
          <a:xfrm>
            <a:off x="984503" y="2041297"/>
            <a:ext cx="10110239" cy="2895959"/>
          </a:xfrm>
          <a:prstGeom prst="rect">
            <a:avLst/>
          </a:prstGeom>
          <a:noFill/>
        </p:spPr>
        <p:txBody>
          <a:bodyPr wrap="square" rtlCol="0">
            <a:spAutoFit/>
          </a:bodyPr>
          <a:lstStyle/>
          <a:p>
            <a:pPr marL="283879" indent="-283879" algn="just">
              <a:lnSpc>
                <a:spcPct val="114999"/>
              </a:lnSpc>
              <a:buAutoNum type="arabicPeriod"/>
              <a:defRPr/>
            </a:pPr>
            <a:r>
              <a:rPr sz="2000" b="0" i="0" u="none" dirty="0">
                <a:solidFill>
                  <a:srgbClr val="000000"/>
                </a:solidFill>
                <a:latin typeface="Times New Roman"/>
                <a:ea typeface="Times New Roman"/>
                <a:cs typeface="Times New Roman"/>
              </a:rPr>
              <a:t>A new combined model (Ensemble of DenseNet201 + EfficientNetV2B0) is used, which gives much better accuracy than using a single model.</a:t>
            </a:r>
            <a:endParaRPr sz="2600" b="0" dirty="0"/>
          </a:p>
          <a:p>
            <a:pPr marL="283879" indent="-283879" algn="just">
              <a:lnSpc>
                <a:spcPct val="114999"/>
              </a:lnSpc>
              <a:buAutoNum type="arabicPeriod"/>
              <a:defRPr/>
            </a:pPr>
            <a:r>
              <a:rPr sz="2000" b="0" i="0" u="none" dirty="0">
                <a:solidFill>
                  <a:srgbClr val="000000"/>
                </a:solidFill>
                <a:latin typeface="Times New Roman"/>
                <a:ea typeface="Times New Roman"/>
                <a:cs typeface="Times New Roman"/>
              </a:rPr>
              <a:t>The two models work together and learn different types of features, making the disease detection more correct and stable.</a:t>
            </a:r>
            <a:endParaRPr sz="2600" b="0" dirty="0"/>
          </a:p>
          <a:p>
            <a:pPr marL="283879" indent="-283879" algn="just">
              <a:lnSpc>
                <a:spcPct val="114999"/>
              </a:lnSpc>
              <a:buAutoNum type="arabicPeriod"/>
              <a:defRPr/>
            </a:pPr>
            <a:r>
              <a:rPr sz="2000" b="0" i="0" u="none" dirty="0">
                <a:solidFill>
                  <a:srgbClr val="000000"/>
                </a:solidFill>
                <a:latin typeface="Times New Roman"/>
                <a:ea typeface="Times New Roman"/>
                <a:cs typeface="Times New Roman"/>
              </a:rPr>
              <a:t>This approach reached 99.67% accuracy, which is higher than previous methods in similar tasks.</a:t>
            </a:r>
            <a:endParaRPr sz="2600" b="0" dirty="0"/>
          </a:p>
          <a:p>
            <a:pPr marL="283879" indent="-283879" algn="just">
              <a:lnSpc>
                <a:spcPct val="114999"/>
              </a:lnSpc>
              <a:buAutoNum type="arabicPeriod"/>
              <a:defRPr/>
            </a:pPr>
            <a:r>
              <a:rPr sz="2000" b="0" i="0" u="none" dirty="0">
                <a:solidFill>
                  <a:srgbClr val="000000"/>
                </a:solidFill>
                <a:latin typeface="Times New Roman"/>
                <a:ea typeface="Times New Roman"/>
                <a:cs typeface="Times New Roman"/>
              </a:rPr>
              <a:t>The model is designed to work well even when leaf images have noise, blur, or different lighting conditions.</a:t>
            </a:r>
            <a:endParaRPr sz="2600" b="0" dirty="0"/>
          </a:p>
        </p:txBody>
      </p:sp>
    </p:spTree>
    <p:extLst>
      <p:ext uri="{BB962C8B-B14F-4D97-AF65-F5344CB8AC3E}">
        <p14:creationId xmlns:p14="http://schemas.microsoft.com/office/powerpoint/2010/main" val="920274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D34C-F2CE-1904-46F5-88AEBCFDC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8F151-7ED2-C606-99FB-D15E7A10395B}"/>
              </a:ext>
            </a:extLst>
          </p:cNvPr>
          <p:cNvSpPr>
            <a:spLocks noGrp="1"/>
          </p:cNvSpPr>
          <p:nvPr>
            <p:ph type="title"/>
          </p:nvPr>
        </p:nvSpPr>
        <p:spPr>
          <a:xfrm>
            <a:off x="1371600" y="350838"/>
            <a:ext cx="9448800" cy="868362"/>
          </a:xfrm>
        </p:spPr>
        <p:txBody>
          <a:bodyPr>
            <a:normAutofit/>
          </a:bodyPr>
          <a:lstStyle/>
          <a:p>
            <a:r>
              <a:rPr lang="en-US" dirty="0">
                <a:solidFill>
                  <a:srgbClr val="7030A0"/>
                </a:solidFill>
                <a:latin typeface="Times New Roman" pitchFamily="18" charset="0"/>
                <a:cs typeface="Times New Roman" pitchFamily="18" charset="0"/>
              </a:rPr>
              <a:t>Sample dataset</a:t>
            </a:r>
          </a:p>
        </p:txBody>
      </p:sp>
      <p:sp>
        <p:nvSpPr>
          <p:cNvPr id="4" name="Slide Number Placeholder 3">
            <a:extLst>
              <a:ext uri="{FF2B5EF4-FFF2-40B4-BE49-F238E27FC236}">
                <a16:creationId xmlns:a16="http://schemas.microsoft.com/office/drawing/2014/main" id="{1411460F-2BC7-EBFF-8ED1-489F5E220AB5}"/>
              </a:ext>
            </a:extLst>
          </p:cNvPr>
          <p:cNvSpPr>
            <a:spLocks noGrp="1"/>
          </p:cNvSpPr>
          <p:nvPr>
            <p:ph type="sldNum" sz="quarter" idx="16"/>
          </p:nvPr>
        </p:nvSpPr>
        <p:spPr>
          <a:xfrm>
            <a:off x="9341104" y="6019800"/>
            <a:ext cx="2844800" cy="365125"/>
          </a:xfrm>
        </p:spPr>
        <p:txBody>
          <a:bodyPr/>
          <a:lstStyle/>
          <a:p>
            <a:pPr>
              <a:defRPr/>
            </a:pPr>
            <a:fld id="{4CD333A3-7515-47B8-9EDC-EE0892D9C861}" type="slidenum">
              <a:rPr lang="en-US" smtClean="0"/>
              <a:pPr>
                <a:defRPr/>
              </a:pPr>
              <a:t>16</a:t>
            </a:fld>
            <a:endParaRPr lang="en-US" dirty="0"/>
          </a:p>
        </p:txBody>
      </p:sp>
      <p:sp>
        <p:nvSpPr>
          <p:cNvPr id="3" name="TextBox 2">
            <a:extLst>
              <a:ext uri="{FF2B5EF4-FFF2-40B4-BE49-F238E27FC236}">
                <a16:creationId xmlns:a16="http://schemas.microsoft.com/office/drawing/2014/main" id="{0F501D11-526D-F3D4-2D04-828C5DF8BC5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5" name="TextBox 820784557">
            <a:extLst>
              <a:ext uri="{FF2B5EF4-FFF2-40B4-BE49-F238E27FC236}">
                <a16:creationId xmlns:a16="http://schemas.microsoft.com/office/drawing/2014/main" id="{1C46CA3B-B769-F532-7B49-F25E84DB9D88}"/>
              </a:ext>
            </a:extLst>
          </p:cNvPr>
          <p:cNvSpPr txBox="1"/>
          <p:nvPr/>
        </p:nvSpPr>
        <p:spPr bwMode="auto">
          <a:xfrm>
            <a:off x="1043278" y="1252233"/>
            <a:ext cx="10416038" cy="181793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64134" algn="l">
              <a:lnSpc>
                <a:spcPct val="150000"/>
              </a:lnSpc>
              <a:spcAft>
                <a:spcPts val="1199"/>
              </a:spcAft>
              <a:defRPr/>
            </a:pPr>
            <a:r>
              <a:rPr lang="en-US" sz="1600">
                <a:latin typeface="Times New Roman"/>
                <a:cs typeface="Times New Roman"/>
              </a:rPr>
              <a:t>The IDBGL dataset was created specifically for this research using real-field Black Gram leaf images. A total of 3,057 images were collected from agricultural fields in Sirajganj Sadar and Solonga, Bangladesh during September to November 2024. Images were captured using seven different smartphones to ensure variation in lighting and background conditions.</a:t>
            </a:r>
            <a:br>
              <a:rPr lang="en-US" sz="1600">
                <a:latin typeface="Times New Roman"/>
                <a:cs typeface="Times New Roman"/>
              </a:rPr>
            </a:br>
            <a:r>
              <a:rPr lang="en-US" sz="1600">
                <a:latin typeface="Times New Roman"/>
                <a:cs typeface="Times New Roman"/>
              </a:rPr>
              <a:t>All images were expert-annotated into five classes: Healthy, Cercospora Leaf Spot, Leaf Crinkle, Insect Damage, and Yellow Mosaic Virus. The dataset is publicly available on Mendeley Data for reproducibility.</a:t>
            </a:r>
            <a:endParaRPr sz="1600">
              <a:latin typeface="Times New Roman"/>
              <a:cs typeface="Times New Roman"/>
            </a:endParaRPr>
          </a:p>
        </p:txBody>
      </p:sp>
      <p:pic>
        <p:nvPicPr>
          <p:cNvPr id="6" name="image34.png">
            <a:extLst>
              <a:ext uri="{FF2B5EF4-FFF2-40B4-BE49-F238E27FC236}">
                <a16:creationId xmlns:a16="http://schemas.microsoft.com/office/drawing/2014/main" id="{3A771158-1979-23D9-4BE3-A73B10BD6435}"/>
              </a:ext>
            </a:extLst>
          </p:cNvPr>
          <p:cNvPicPr/>
          <p:nvPr/>
        </p:nvPicPr>
        <p:blipFill rotWithShape="1">
          <a:blip r:embed="rId2"/>
          <a:srcRect r="3774" b="7096"/>
          <a:stretch/>
        </p:blipFill>
        <p:spPr bwMode="auto">
          <a:xfrm>
            <a:off x="2886456" y="3547872"/>
            <a:ext cx="6062471" cy="1901952"/>
          </a:xfrm>
          <a:prstGeom prst="rect">
            <a:avLst/>
          </a:prstGeom>
          <a:ln/>
        </p:spPr>
      </p:pic>
    </p:spTree>
    <p:extLst>
      <p:ext uri="{BB962C8B-B14F-4D97-AF65-F5344CB8AC3E}">
        <p14:creationId xmlns:p14="http://schemas.microsoft.com/office/powerpoint/2010/main" val="4192927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DEE64-196C-B3D9-C82D-1C952ED4B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13532-2D31-B35B-51FC-878A3DDEBA0F}"/>
              </a:ext>
            </a:extLst>
          </p:cNvPr>
          <p:cNvSpPr>
            <a:spLocks noGrp="1"/>
          </p:cNvSpPr>
          <p:nvPr>
            <p:ph type="title"/>
          </p:nvPr>
        </p:nvSpPr>
        <p:spPr>
          <a:xfrm>
            <a:off x="1371600" y="160908"/>
            <a:ext cx="9448800" cy="868362"/>
          </a:xfrm>
        </p:spPr>
        <p:txBody>
          <a:bodyPr>
            <a:normAutofit/>
          </a:bodyPr>
          <a:lstStyle/>
          <a:p>
            <a:r>
              <a:rPr lang="en-US" dirty="0">
                <a:solidFill>
                  <a:srgbClr val="7030A0"/>
                </a:solidFill>
                <a:latin typeface="Times New Roman" pitchFamily="18" charset="0"/>
                <a:cs typeface="Times New Roman" pitchFamily="18" charset="0"/>
              </a:rPr>
              <a:t>Sample dataset and Expected output</a:t>
            </a:r>
          </a:p>
        </p:txBody>
      </p:sp>
      <p:sp>
        <p:nvSpPr>
          <p:cNvPr id="4" name="Slide Number Placeholder 3">
            <a:extLst>
              <a:ext uri="{FF2B5EF4-FFF2-40B4-BE49-F238E27FC236}">
                <a16:creationId xmlns:a16="http://schemas.microsoft.com/office/drawing/2014/main" id="{62D4510A-2A45-948C-55F1-C16B1F9D97CD}"/>
              </a:ext>
            </a:extLst>
          </p:cNvPr>
          <p:cNvSpPr>
            <a:spLocks noGrp="1"/>
          </p:cNvSpPr>
          <p:nvPr>
            <p:ph type="sldNum" sz="quarter" idx="16"/>
          </p:nvPr>
        </p:nvSpPr>
        <p:spPr>
          <a:xfrm>
            <a:off x="9347200" y="5961645"/>
            <a:ext cx="2844800" cy="365125"/>
          </a:xfrm>
        </p:spPr>
        <p:txBody>
          <a:bodyPr/>
          <a:lstStyle/>
          <a:p>
            <a:pPr>
              <a:defRPr/>
            </a:pPr>
            <a:fld id="{4CD333A3-7515-47B8-9EDC-EE0892D9C861}" type="slidenum">
              <a:rPr lang="en-US" smtClean="0"/>
              <a:pPr>
                <a:defRPr/>
              </a:pPr>
              <a:t>17</a:t>
            </a:fld>
            <a:endParaRPr lang="en-US" dirty="0"/>
          </a:p>
        </p:txBody>
      </p:sp>
      <p:sp>
        <p:nvSpPr>
          <p:cNvPr id="3" name="TextBox 2">
            <a:extLst>
              <a:ext uri="{FF2B5EF4-FFF2-40B4-BE49-F238E27FC236}">
                <a16:creationId xmlns:a16="http://schemas.microsoft.com/office/drawing/2014/main" id="{354740A8-B4CC-FE80-9727-34DB4B177478}"/>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5" name="Picture 4">
            <a:extLst>
              <a:ext uri="{FF2B5EF4-FFF2-40B4-BE49-F238E27FC236}">
                <a16:creationId xmlns:a16="http://schemas.microsoft.com/office/drawing/2014/main" id="{F1CAD1C9-A256-CC71-C327-20909F289A91}"/>
              </a:ext>
            </a:extLst>
          </p:cNvPr>
          <p:cNvPicPr>
            <a:picLocks noChangeAspect="1"/>
          </p:cNvPicPr>
          <p:nvPr/>
        </p:nvPicPr>
        <p:blipFill>
          <a:blip r:embed="rId2"/>
          <a:stretch>
            <a:fillRect/>
          </a:stretch>
        </p:blipFill>
        <p:spPr bwMode="auto">
          <a:xfrm>
            <a:off x="1905000" y="937023"/>
            <a:ext cx="8153400" cy="5127721"/>
          </a:xfrm>
          <a:prstGeom prst="rect">
            <a:avLst/>
          </a:prstGeom>
          <a:noFill/>
        </p:spPr>
      </p:pic>
    </p:spTree>
    <p:extLst>
      <p:ext uri="{BB962C8B-B14F-4D97-AF65-F5344CB8AC3E}">
        <p14:creationId xmlns:p14="http://schemas.microsoft.com/office/powerpoint/2010/main" val="2592470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ACCF1-4663-0FAC-E557-C8C860184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B699C-3280-7E27-A53B-6B90D91ADB53}"/>
              </a:ext>
            </a:extLst>
          </p:cNvPr>
          <p:cNvSpPr>
            <a:spLocks noGrp="1"/>
          </p:cNvSpPr>
          <p:nvPr>
            <p:ph type="title"/>
          </p:nvPr>
        </p:nvSpPr>
        <p:spPr>
          <a:xfrm>
            <a:off x="1638298" y="76200"/>
            <a:ext cx="8915400" cy="868362"/>
          </a:xfrm>
        </p:spPr>
        <p:txBody>
          <a:bodyPr>
            <a:normAutofit fontScale="90000"/>
          </a:bodyPr>
          <a:lstStyle/>
          <a:p>
            <a:r>
              <a:rPr lang="en-US" dirty="0">
                <a:solidFill>
                  <a:srgbClr val="7030A0"/>
                </a:solidFill>
                <a:latin typeface="Times New Roman" panose="02020603050405020304" pitchFamily="18" charset="0"/>
                <a:cs typeface="Times New Roman" panose="02020603050405020304" pitchFamily="18" charset="0"/>
              </a:rPr>
              <a:t>Web Interface of Image Enhancement</a:t>
            </a:r>
            <a:endParaRPr lang="en-US" dirty="0">
              <a:solidFill>
                <a:srgbClr val="7030A0"/>
              </a:solidFill>
            </a:endParaRPr>
          </a:p>
        </p:txBody>
      </p:sp>
      <p:sp>
        <p:nvSpPr>
          <p:cNvPr id="4" name="Slide Number Placeholder 3">
            <a:extLst>
              <a:ext uri="{FF2B5EF4-FFF2-40B4-BE49-F238E27FC236}">
                <a16:creationId xmlns:a16="http://schemas.microsoft.com/office/drawing/2014/main" id="{8D521EDD-A921-29EF-524A-2EBB5538B25A}"/>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18</a:t>
            </a:fld>
            <a:endParaRPr lang="en-US" dirty="0"/>
          </a:p>
        </p:txBody>
      </p:sp>
      <p:sp>
        <p:nvSpPr>
          <p:cNvPr id="3" name="TextBox 2">
            <a:extLst>
              <a:ext uri="{FF2B5EF4-FFF2-40B4-BE49-F238E27FC236}">
                <a16:creationId xmlns:a16="http://schemas.microsoft.com/office/drawing/2014/main" id="{C6A89BB2-DBB6-BF76-BA68-3DFF2884AD82}"/>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5" name="Picture 4">
            <a:extLst>
              <a:ext uri="{FF2B5EF4-FFF2-40B4-BE49-F238E27FC236}">
                <a16:creationId xmlns:a16="http://schemas.microsoft.com/office/drawing/2014/main" id="{B351947C-FF2F-D5C0-FDD4-6B37C47D4AD3}"/>
              </a:ext>
            </a:extLst>
          </p:cNvPr>
          <p:cNvPicPr>
            <a:picLocks noChangeAspect="1"/>
          </p:cNvPicPr>
          <p:nvPr/>
        </p:nvPicPr>
        <p:blipFill rotWithShape="1">
          <a:blip r:embed="rId2"/>
          <a:stretch/>
        </p:blipFill>
        <p:spPr bwMode="auto">
          <a:xfrm>
            <a:off x="398901" y="1295400"/>
            <a:ext cx="6477278" cy="3733800"/>
          </a:xfrm>
          <a:prstGeom prst="rect">
            <a:avLst/>
          </a:prstGeom>
        </p:spPr>
      </p:pic>
      <p:pic>
        <p:nvPicPr>
          <p:cNvPr id="6" name="Picture 5">
            <a:extLst>
              <a:ext uri="{FF2B5EF4-FFF2-40B4-BE49-F238E27FC236}">
                <a16:creationId xmlns:a16="http://schemas.microsoft.com/office/drawing/2014/main" id="{080E3550-EF4D-A301-AF5E-E50F744A8AA9}"/>
              </a:ext>
            </a:extLst>
          </p:cNvPr>
          <p:cNvPicPr>
            <a:picLocks noChangeAspect="1"/>
          </p:cNvPicPr>
          <p:nvPr/>
        </p:nvPicPr>
        <p:blipFill rotWithShape="1">
          <a:blip r:embed="rId3"/>
          <a:stretch/>
        </p:blipFill>
        <p:spPr bwMode="auto">
          <a:xfrm>
            <a:off x="6835444" y="1110379"/>
            <a:ext cx="4159911" cy="4846638"/>
          </a:xfrm>
          <a:prstGeom prst="rect">
            <a:avLst/>
          </a:prstGeom>
        </p:spPr>
      </p:pic>
    </p:spTree>
    <p:extLst>
      <p:ext uri="{BB962C8B-B14F-4D97-AF65-F5344CB8AC3E}">
        <p14:creationId xmlns:p14="http://schemas.microsoft.com/office/powerpoint/2010/main" val="1685071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4" name="Slide Number Placeholder 3"/>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19</a:t>
            </a:fld>
            <a:endParaRPr lang="en-US" dirty="0"/>
          </a:p>
        </p:txBody>
      </p:sp>
      <p:sp>
        <p:nvSpPr>
          <p:cNvPr id="5" name="TextBox 4">
            <a:extLst>
              <a:ext uri="{FF2B5EF4-FFF2-40B4-BE49-F238E27FC236}">
                <a16:creationId xmlns:a16="http://schemas.microsoft.com/office/drawing/2014/main" id="{19B37B8D-F57A-2BA3-3A76-E3DD8C73097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Content Placeholder 1">
            <a:extLst>
              <a:ext uri="{FF2B5EF4-FFF2-40B4-BE49-F238E27FC236}">
                <a16:creationId xmlns:a16="http://schemas.microsoft.com/office/drawing/2014/main" id="{2808D4E5-9490-D39B-2FC8-5DE0C50BD803}"/>
              </a:ext>
            </a:extLst>
          </p:cNvPr>
          <p:cNvSpPr>
            <a:spLocks noGrp="1" noChangeArrowheads="1"/>
          </p:cNvSpPr>
          <p:nvPr>
            <p:ph sz="quarter" idx="13"/>
          </p:nvPr>
        </p:nvSpPr>
        <p:spPr bwMode="auto">
          <a:xfrm>
            <a:off x="812859" y="1272788"/>
            <a:ext cx="9806394" cy="379511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Developed a deep learning–based system for automated black gram leaf disease detection.</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Used real-field images collected from Bangladesh for model training and evaluation.</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A total of 3,057 expert-annotated images were used in this study.</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Multiple CNN architectures were trained and evaluated.</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EfficientNetV2B0 achieved the highest accuracy of 99.54%.</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DenseNet201 showed strong stability and generalization performance.</a:t>
            </a:r>
          </a:p>
          <a:p>
            <a:pPr marR="0" lvl="0" algn="just" defTabSz="914400" rtl="0">
              <a:lnSpc>
                <a:spcPct val="150000"/>
              </a:lnSpc>
              <a:spcBef>
                <a:spcPts val="0"/>
              </a:spcBef>
              <a:spcAft>
                <a:spcPts val="0"/>
              </a:spcAft>
              <a:buClrTx/>
              <a:buSzTx/>
              <a:buFont typeface="Wingdings"/>
              <a:buChar char="q"/>
              <a:defRPr/>
            </a:pPr>
            <a:r>
              <a:rPr lang="en-US" sz="1800" b="0" i="0" u="none" strike="noStrike" cap="none" spc="0" dirty="0">
                <a:ln>
                  <a:noFill/>
                </a:ln>
                <a:solidFill>
                  <a:schemeClr val="tx1"/>
                </a:solidFill>
                <a:latin typeface="Times New Roman"/>
                <a:ea typeface="Times New Roman"/>
                <a:cs typeface="Times New Roman"/>
              </a:rPr>
              <a:t>The DenseNet201 + EfficientNetV2B0 ensemble delivered the best performance with 99.67% accuracy, offering the most robust and reliable disease classification.</a:t>
            </a:r>
            <a:endParaRPr lang="en-US" sz="3600" dirty="0">
              <a:latin typeface="Times New Roman"/>
              <a:cs typeface="Times New Roman"/>
            </a:endParaRPr>
          </a:p>
          <a:p>
            <a:pPr marR="0" lvl="0" algn="just" defTabSz="914400" rtl="0">
              <a:lnSpc>
                <a:spcPct val="150000"/>
              </a:lnSpc>
              <a:spcBef>
                <a:spcPts val="0"/>
              </a:spcBef>
              <a:spcAft>
                <a:spcPts val="0"/>
              </a:spcAft>
              <a:buClrTx/>
              <a:buSzTx/>
              <a:buFont typeface="Wingdings"/>
              <a:buChar char="q"/>
              <a:defRPr/>
            </a:pPr>
            <a:r>
              <a:rPr lang="en-US" sz="1800" i="0" u="none" strike="noStrike" cap="none" dirty="0">
                <a:ln>
                  <a:noFill/>
                </a:ln>
                <a:solidFill>
                  <a:schemeClr val="tx1"/>
                </a:solidFill>
                <a:latin typeface="Times New Roman"/>
                <a:cs typeface="Times New Roman"/>
              </a:rPr>
              <a:t>The system proves deep learning can provide accurate and reliable disease diagnosis for farmers.</a:t>
            </a:r>
            <a:endParaRPr lang="en-US" sz="3600" dirty="0">
              <a:latin typeface="Times New Roman"/>
              <a:cs typeface="Times New Roman"/>
            </a:endParaRPr>
          </a:p>
        </p:txBody>
      </p:sp>
    </p:spTree>
    <p:extLst>
      <p:ext uri="{BB962C8B-B14F-4D97-AF65-F5344CB8AC3E}">
        <p14:creationId xmlns:p14="http://schemas.microsoft.com/office/powerpoint/2010/main" val="2873705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AAE9-3B4C-FCEC-50FC-12FB4062A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CA16-AE0D-D369-FE42-59C7313CB16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4" name="Slide Number Placeholder 3">
            <a:extLst>
              <a:ext uri="{FF2B5EF4-FFF2-40B4-BE49-F238E27FC236}">
                <a16:creationId xmlns:a16="http://schemas.microsoft.com/office/drawing/2014/main" id="{F97097F1-FADA-324C-E90E-73FFCAEF9034}"/>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20</a:t>
            </a:fld>
            <a:endParaRPr lang="en-US" dirty="0"/>
          </a:p>
        </p:txBody>
      </p:sp>
      <p:sp>
        <p:nvSpPr>
          <p:cNvPr id="5" name="TextBox 4">
            <a:extLst>
              <a:ext uri="{FF2B5EF4-FFF2-40B4-BE49-F238E27FC236}">
                <a16:creationId xmlns:a16="http://schemas.microsoft.com/office/drawing/2014/main" id="{908FB2A1-531C-6EF4-8574-EB5912211BF6}"/>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Content Placeholder 2">
            <a:extLst>
              <a:ext uri="{FF2B5EF4-FFF2-40B4-BE49-F238E27FC236}">
                <a16:creationId xmlns:a16="http://schemas.microsoft.com/office/drawing/2014/main" id="{77D4754E-D10E-F191-5198-2CFE71EB669C}"/>
              </a:ext>
            </a:extLst>
          </p:cNvPr>
          <p:cNvSpPr>
            <a:spLocks noGrp="1"/>
          </p:cNvSpPr>
          <p:nvPr>
            <p:ph sz="quarter" idx="13"/>
          </p:nvPr>
        </p:nvSpPr>
        <p:spPr bwMode="auto">
          <a:xfrm>
            <a:off x="533400" y="1676400"/>
            <a:ext cx="11049000" cy="3962400"/>
          </a:xfrm>
        </p:spPr>
        <p:txBody>
          <a:bodyPr vertOverflow="overflow" horzOverflow="overflow" vert="horz" wrap="square" lIns="91440" tIns="45720" rIns="91440" bIns="45720" numCol="1" spcCol="0" rtlCol="0" fromWordArt="0" anchor="t" anchorCtr="0" forceAA="0" compatLnSpc="0">
            <a:normAutofit fontScale="80000" lnSpcReduction="10000"/>
          </a:bodyPr>
          <a:lstStyle/>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N. </a:t>
            </a:r>
            <a:r>
              <a:rPr lang="en-US" sz="1800" dirty="0" err="1">
                <a:solidFill>
                  <a:srgbClr val="000000"/>
                </a:solidFill>
                <a:latin typeface="Times New Roman"/>
                <a:ea typeface="Century"/>
                <a:cs typeface="Times New Roman"/>
              </a:rPr>
              <a:t>Hajare</a:t>
            </a:r>
            <a:r>
              <a:rPr lang="en-US" sz="1800" dirty="0">
                <a:solidFill>
                  <a:srgbClr val="000000"/>
                </a:solidFill>
                <a:latin typeface="Times New Roman"/>
                <a:ea typeface="Century"/>
                <a:cs typeface="Times New Roman"/>
              </a:rPr>
              <a:t> and A. S. </a:t>
            </a:r>
            <a:r>
              <a:rPr lang="en-US" sz="1800" dirty="0" err="1">
                <a:solidFill>
                  <a:srgbClr val="000000"/>
                </a:solidFill>
                <a:latin typeface="Times New Roman"/>
                <a:ea typeface="Century"/>
                <a:cs typeface="Times New Roman"/>
              </a:rPr>
              <a:t>Rajawat</a:t>
            </a:r>
            <a:r>
              <a:rPr lang="en-US" sz="1800" dirty="0">
                <a:solidFill>
                  <a:srgbClr val="000000"/>
                </a:solidFill>
                <a:latin typeface="Times New Roman"/>
                <a:ea typeface="Century"/>
                <a:cs typeface="Times New Roman"/>
              </a:rPr>
              <a:t>, "Black gram disease classification via deep ensemble model with optimal training," </a:t>
            </a:r>
            <a:r>
              <a:rPr lang="en-US" sz="1800" i="1" dirty="0">
                <a:solidFill>
                  <a:srgbClr val="000000"/>
                </a:solidFill>
                <a:latin typeface="Times New Roman"/>
                <a:ea typeface="Century"/>
                <a:cs typeface="Times New Roman"/>
              </a:rPr>
              <a:t>International Journal of Image and Graphics</a:t>
            </a:r>
            <a:r>
              <a:rPr lang="en-US" sz="1800" dirty="0">
                <a:solidFill>
                  <a:srgbClr val="000000"/>
                </a:solidFill>
                <a:latin typeface="Times New Roman"/>
                <a:ea typeface="Century"/>
                <a:cs typeface="Times New Roman"/>
              </a:rPr>
              <a:t>, vol. 25, no. 04, p. 2550033, 2025.</a:t>
            </a:r>
            <a:endParaRPr lang="en-US" sz="1800" dirty="0">
              <a:latin typeface="Times New Roman"/>
              <a:ea typeface="Calibri"/>
              <a:cs typeface="Times New Roman"/>
            </a:endParaRPr>
          </a:p>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N. S. Jyothi and R. S. Prasad, "</a:t>
            </a:r>
            <a:r>
              <a:rPr lang="en-US" sz="1800" dirty="0" err="1">
                <a:solidFill>
                  <a:srgbClr val="000000"/>
                </a:solidFill>
                <a:latin typeface="Times New Roman"/>
                <a:ea typeface="Century"/>
                <a:cs typeface="Times New Roman"/>
              </a:rPr>
              <a:t>Cuscuta</a:t>
            </a:r>
            <a:r>
              <a:rPr lang="en-US" sz="1800" dirty="0">
                <a:solidFill>
                  <a:srgbClr val="000000"/>
                </a:solidFill>
                <a:latin typeface="Times New Roman"/>
                <a:ea typeface="Century"/>
                <a:cs typeface="Times New Roman"/>
              </a:rPr>
              <a:t> detection and classification of </a:t>
            </a:r>
            <a:r>
              <a:rPr lang="en-US" sz="1800" dirty="0" err="1">
                <a:solidFill>
                  <a:srgbClr val="000000"/>
                </a:solidFill>
                <a:latin typeface="Times New Roman"/>
                <a:ea typeface="Century"/>
                <a:cs typeface="Times New Roman"/>
              </a:rPr>
              <a:t>blackgram</a:t>
            </a:r>
            <a:r>
              <a:rPr lang="en-US" sz="1800" dirty="0">
                <a:solidFill>
                  <a:srgbClr val="000000"/>
                </a:solidFill>
                <a:latin typeface="Times New Roman"/>
                <a:ea typeface="Century"/>
                <a:cs typeface="Times New Roman"/>
              </a:rPr>
              <a:t> plant leaf diseases using deep-transformation algorithm," in </a:t>
            </a:r>
            <a:r>
              <a:rPr lang="en-US" sz="1800" i="1" dirty="0">
                <a:solidFill>
                  <a:srgbClr val="000000"/>
                </a:solidFill>
                <a:latin typeface="Times New Roman"/>
                <a:ea typeface="Century"/>
                <a:cs typeface="Times New Roman"/>
              </a:rPr>
              <a:t>2025 International Conference on Multi-Agent Systems for Collaborative Intelligence (ICMSCI)</a:t>
            </a:r>
            <a:r>
              <a:rPr lang="en-US" sz="1800" dirty="0">
                <a:solidFill>
                  <a:srgbClr val="000000"/>
                </a:solidFill>
                <a:latin typeface="Times New Roman"/>
                <a:ea typeface="Century"/>
                <a:cs typeface="Times New Roman"/>
              </a:rPr>
              <a:t>, Jan. 2025, pp. 1854–1858.</a:t>
            </a:r>
            <a:endParaRPr lang="en-US" sz="1800" dirty="0">
              <a:latin typeface="Times New Roman"/>
              <a:ea typeface="Calibri"/>
              <a:cs typeface="Times New Roman"/>
            </a:endParaRPr>
          </a:p>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S. </a:t>
            </a:r>
            <a:r>
              <a:rPr lang="en-US" sz="1800" dirty="0" err="1">
                <a:solidFill>
                  <a:srgbClr val="000000"/>
                </a:solidFill>
                <a:latin typeface="Times New Roman"/>
                <a:ea typeface="Century"/>
                <a:cs typeface="Times New Roman"/>
              </a:rPr>
              <a:t>Talasila</a:t>
            </a:r>
            <a:r>
              <a:rPr lang="en-US" sz="1800" dirty="0">
                <a:solidFill>
                  <a:srgbClr val="000000"/>
                </a:solidFill>
                <a:latin typeface="Times New Roman"/>
                <a:ea typeface="Century"/>
                <a:cs typeface="Times New Roman"/>
              </a:rPr>
              <a:t>, V. K. </a:t>
            </a:r>
            <a:r>
              <a:rPr lang="en-US" sz="1800" dirty="0" err="1">
                <a:solidFill>
                  <a:srgbClr val="000000"/>
                </a:solidFill>
                <a:latin typeface="Times New Roman"/>
                <a:ea typeface="Century"/>
                <a:cs typeface="Times New Roman"/>
              </a:rPr>
              <a:t>Gurrala</a:t>
            </a:r>
            <a:r>
              <a:rPr lang="en-US" sz="1800" dirty="0">
                <a:solidFill>
                  <a:srgbClr val="000000"/>
                </a:solidFill>
                <a:latin typeface="Times New Roman"/>
                <a:ea typeface="Century"/>
                <a:cs typeface="Times New Roman"/>
              </a:rPr>
              <a:t>, and R. P. </a:t>
            </a:r>
            <a:r>
              <a:rPr lang="en-US" sz="1800" dirty="0" err="1">
                <a:solidFill>
                  <a:srgbClr val="000000"/>
                </a:solidFill>
                <a:latin typeface="Times New Roman"/>
                <a:ea typeface="Century"/>
                <a:cs typeface="Times New Roman"/>
              </a:rPr>
              <a:t>Somineni</a:t>
            </a:r>
            <a:r>
              <a:rPr lang="en-US" sz="1800" dirty="0">
                <a:solidFill>
                  <a:srgbClr val="000000"/>
                </a:solidFill>
                <a:latin typeface="Times New Roman"/>
                <a:ea typeface="Century"/>
                <a:cs typeface="Times New Roman"/>
              </a:rPr>
              <a:t>, "Semantic Segmentation and Transfer Learning based Disease Classification in Black Gram Plants: BLACK GRAM PLANT LEAF SEGMENTATION AND DISEASE CLASSIFICATION," </a:t>
            </a:r>
            <a:r>
              <a:rPr lang="en-US" sz="1800" i="1" dirty="0">
                <a:solidFill>
                  <a:srgbClr val="000000"/>
                </a:solidFill>
                <a:latin typeface="Times New Roman"/>
                <a:ea typeface="Century"/>
                <a:cs typeface="Times New Roman"/>
              </a:rPr>
              <a:t>Journal of Scientific &amp; Industrial Research (JSIR)</a:t>
            </a:r>
            <a:r>
              <a:rPr lang="en-US" sz="1800" dirty="0">
                <a:solidFill>
                  <a:srgbClr val="000000"/>
                </a:solidFill>
                <a:latin typeface="Times New Roman"/>
                <a:ea typeface="Century"/>
                <a:cs typeface="Times New Roman"/>
              </a:rPr>
              <a:t>, vol. 84, no. 04, pp. 399–410, 2025.</a:t>
            </a:r>
            <a:endParaRPr lang="en-US" sz="1800" dirty="0">
              <a:latin typeface="Times New Roman"/>
              <a:ea typeface="Calibri"/>
              <a:cs typeface="Times New Roman"/>
            </a:endParaRPr>
          </a:p>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R. Mehta, P. Kumar, G. Prem, S. Aggarwal, and R. Kumar, "Leveraging Artificial Intelligence for Disease Diagnosis in Agricultural Crops: A Review," </a:t>
            </a:r>
            <a:r>
              <a:rPr lang="en-US" sz="1800" i="1" dirty="0">
                <a:solidFill>
                  <a:srgbClr val="000000"/>
                </a:solidFill>
                <a:latin typeface="Times New Roman"/>
                <a:ea typeface="Century"/>
                <a:cs typeface="Times New Roman"/>
              </a:rPr>
              <a:t>Indian Journal of Agricultural Research</a:t>
            </a:r>
            <a:r>
              <a:rPr lang="en-US" sz="1800" dirty="0">
                <a:solidFill>
                  <a:srgbClr val="000000"/>
                </a:solidFill>
                <a:latin typeface="Times New Roman"/>
                <a:ea typeface="Century"/>
                <a:cs typeface="Times New Roman"/>
              </a:rPr>
              <a:t>, vol. 59, no. 5, 2025.</a:t>
            </a:r>
            <a:endParaRPr lang="en-US" sz="1800" dirty="0">
              <a:latin typeface="Times New Roman"/>
              <a:ea typeface="Calibri"/>
              <a:cs typeface="Times New Roman"/>
            </a:endParaRPr>
          </a:p>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P. Das et al., "Characterization of Newly Identified Mung Bean [Vigna radiata (L.) </a:t>
            </a:r>
            <a:r>
              <a:rPr lang="en-US" sz="1800" dirty="0" err="1">
                <a:solidFill>
                  <a:srgbClr val="000000"/>
                </a:solidFill>
                <a:latin typeface="Times New Roman"/>
                <a:ea typeface="Century"/>
                <a:cs typeface="Times New Roman"/>
              </a:rPr>
              <a:t>Wilczek</a:t>
            </a:r>
            <a:r>
              <a:rPr lang="en-US" sz="1800" dirty="0">
                <a:solidFill>
                  <a:srgbClr val="000000"/>
                </a:solidFill>
                <a:latin typeface="Times New Roman"/>
                <a:ea typeface="Century"/>
                <a:cs typeface="Times New Roman"/>
              </a:rPr>
              <a:t>] Landraces for Yellow Mosaic Disease Resistance Using Morphological, Biochemical and Molecular Traits," </a:t>
            </a:r>
            <a:r>
              <a:rPr lang="en-US" sz="1800" i="1" dirty="0">
                <a:solidFill>
                  <a:srgbClr val="000000"/>
                </a:solidFill>
                <a:latin typeface="Times New Roman"/>
                <a:ea typeface="Century"/>
                <a:cs typeface="Times New Roman"/>
              </a:rPr>
              <a:t>Plant Molecular Biology Reporter</a:t>
            </a:r>
            <a:r>
              <a:rPr lang="en-US" sz="1800" dirty="0">
                <a:solidFill>
                  <a:srgbClr val="000000"/>
                </a:solidFill>
                <a:latin typeface="Times New Roman"/>
                <a:ea typeface="Century"/>
                <a:cs typeface="Times New Roman"/>
              </a:rPr>
              <a:t>, pp. 1–14, 2025.</a:t>
            </a:r>
            <a:endParaRPr lang="en-US" sz="1800" dirty="0">
              <a:latin typeface="Times New Roman"/>
              <a:ea typeface="Calibri"/>
              <a:cs typeface="Times New Roman"/>
            </a:endParaRPr>
          </a:p>
          <a:p>
            <a:pPr marL="342900" marR="0" lvl="0" indent="-342900" algn="just">
              <a:lnSpc>
                <a:spcPct val="150000"/>
              </a:lnSpc>
              <a:spcBef>
                <a:spcPts val="5"/>
              </a:spcBef>
              <a:spcAft>
                <a:spcPts val="0"/>
              </a:spcAft>
              <a:buFont typeface="+mj-lt"/>
              <a:buAutoNum type="arabicPeriod"/>
              <a:tabLst>
                <a:tab pos="342900" algn="l"/>
              </a:tabLst>
              <a:defRPr/>
            </a:pPr>
            <a:r>
              <a:rPr lang="en-US" sz="1800" dirty="0">
                <a:solidFill>
                  <a:srgbClr val="000000"/>
                </a:solidFill>
                <a:latin typeface="Times New Roman"/>
                <a:ea typeface="Century"/>
                <a:cs typeface="Times New Roman"/>
              </a:rPr>
              <a:t>G. Sangar and V. Rajasekar, "An optimized attention-based deep learning model for black gram leaf disease classification," </a:t>
            </a:r>
            <a:r>
              <a:rPr lang="en-US" sz="1800" i="1" dirty="0">
                <a:solidFill>
                  <a:srgbClr val="000000"/>
                </a:solidFill>
                <a:latin typeface="Times New Roman"/>
                <a:ea typeface="Century"/>
                <a:cs typeface="Times New Roman"/>
              </a:rPr>
              <a:t>Journal of Theoretical and Applied Information Technology</a:t>
            </a:r>
            <a:r>
              <a:rPr lang="en-US" sz="1800" dirty="0">
                <a:solidFill>
                  <a:srgbClr val="000000"/>
                </a:solidFill>
                <a:latin typeface="Times New Roman"/>
                <a:ea typeface="Century"/>
                <a:cs typeface="Times New Roman"/>
              </a:rPr>
              <a:t>, vol. 103, no. 4, 2025.</a:t>
            </a:r>
            <a:endParaRPr lang="en-US" sz="1800" dirty="0">
              <a:latin typeface="Times New Roman"/>
              <a:ea typeface="Calibri"/>
              <a:cs typeface="Times New Roman"/>
            </a:endParaRPr>
          </a:p>
        </p:txBody>
      </p:sp>
    </p:spTree>
    <p:extLst>
      <p:ext uri="{BB962C8B-B14F-4D97-AF65-F5344CB8AC3E}">
        <p14:creationId xmlns:p14="http://schemas.microsoft.com/office/powerpoint/2010/main" val="1905469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a:xfrm>
            <a:off x="9350248" y="5959475"/>
            <a:ext cx="2844800" cy="365125"/>
          </a:xfrm>
        </p:spPr>
        <p:txBody>
          <a:bodyPr/>
          <a:lstStyle/>
          <a:p>
            <a:pPr>
              <a:defRPr/>
            </a:pPr>
            <a:fld id="{4CD333A3-7515-47B8-9EDC-EE0892D9C861}" type="slidenum">
              <a:rPr lang="en-US" smtClean="0"/>
              <a:pPr>
                <a:defRPr/>
              </a:pPr>
              <a:t>21</a:t>
            </a:fld>
            <a:endParaRPr lang="en-US" dirty="0"/>
          </a:p>
        </p:txBody>
      </p:sp>
      <p:sp>
        <p:nvSpPr>
          <p:cNvPr id="5" name="TextBox 4">
            <a:extLst>
              <a:ext uri="{FF2B5EF4-FFF2-40B4-BE49-F238E27FC236}">
                <a16:creationId xmlns:a16="http://schemas.microsoft.com/office/drawing/2014/main" id="{2EBB629C-0461-0D8C-DA5C-C136AD5443E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1625</TotalTime>
  <Words>1792</Words>
  <Application>Microsoft Office PowerPoint</Application>
  <PresentationFormat>Widescreen</PresentationFormat>
  <Paragraphs>276</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Century</vt:lpstr>
      <vt:lpstr>Times New Roman</vt:lpstr>
      <vt:lpstr>Times New Romanm</vt:lpstr>
      <vt:lpstr>Wingdings</vt:lpstr>
      <vt:lpstr>New Microsoft PowerPoint Presentation</vt:lpstr>
      <vt:lpstr>Automated Detection and Classification of Leaf Diseases in Black Gram Using Deep Learning Techniques</vt:lpstr>
      <vt:lpstr>Outline</vt:lpstr>
      <vt:lpstr>Introduction</vt:lpstr>
      <vt:lpstr>Objective</vt:lpstr>
      <vt:lpstr>Background Study</vt:lpstr>
      <vt:lpstr>Gap Analysis</vt:lpstr>
      <vt:lpstr>Methodology</vt:lpstr>
      <vt:lpstr>Result and Analysis</vt:lpstr>
      <vt:lpstr>Result and Analysis</vt:lpstr>
      <vt:lpstr>Result and Analysis</vt:lpstr>
      <vt:lpstr>Result and Analysis</vt:lpstr>
      <vt:lpstr>Result and Analysis</vt:lpstr>
      <vt:lpstr>Result and Analysis</vt:lpstr>
      <vt:lpstr>Result and Analysis</vt:lpstr>
      <vt:lpstr>Novelty of the Work</vt:lpstr>
      <vt:lpstr>Sample dataset</vt:lpstr>
      <vt:lpstr>Sample dataset and Expected output</vt:lpstr>
      <vt:lpstr>Web Interface of Image Enhancement</vt:lpstr>
      <vt:lpstr>Conclusion</vt:lpstr>
      <vt:lpstr>References</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Shakib Rahman</cp:lastModifiedBy>
  <cp:revision>274</cp:revision>
  <dcterms:created xsi:type="dcterms:W3CDTF">2011-07-17T02:56:35Z</dcterms:created>
  <dcterms:modified xsi:type="dcterms:W3CDTF">2026-01-05T15:24:50Z</dcterms:modified>
</cp:coreProperties>
</file>